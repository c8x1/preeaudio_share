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36dc28f6554313" /><Relationship Type="http://schemas.openxmlformats.org/officeDocument/2006/relationships/extended-properties" Target="/docProps/app.xml" Id="Rdd0c044941a04ac1" /><Relationship Type="http://schemas.openxmlformats.org/officeDocument/2006/relationships/officeDocument" Target="/ppt/presentation.xml" Id="R81406e57bee140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01eeab3da04ef8"/>
  </p:sldMasterIdLst>
  <p:notesMasterIdLst>
    <p:notesMasterId xmlns:r="http://schemas.openxmlformats.org/officeDocument/2006/relationships" r:id="R468c84c7aaee4e5b"/>
  </p:notesMasterIdLst>
  <p:sldIdLst>
    <p:sldId xmlns:r="http://schemas.openxmlformats.org/officeDocument/2006/relationships" id="256" r:id="Rbcd82baa41f14ef1"/>
    <p:sldId xmlns:r="http://schemas.openxmlformats.org/officeDocument/2006/relationships" id="257" r:id="R9484754963294331"/>
    <p:sldId xmlns:r="http://schemas.openxmlformats.org/officeDocument/2006/relationships" id="258" r:id="Rd5f417ad519445ef"/>
    <p:sldId xmlns:r="http://schemas.openxmlformats.org/officeDocument/2006/relationships" id="259" r:id="Rc37235794aeb41f9"/>
    <p:sldId xmlns:r="http://schemas.openxmlformats.org/officeDocument/2006/relationships" id="260" r:id="R89fbb2896139473d"/>
    <p:sldId xmlns:r="http://schemas.openxmlformats.org/officeDocument/2006/relationships" id="261" r:id="R6c690edc54bc487f"/>
    <p:sldId xmlns:r="http://schemas.openxmlformats.org/officeDocument/2006/relationships" id="262" r:id="R7e7965f712f74cd4"/>
    <p:sldId xmlns:r="http://schemas.openxmlformats.org/officeDocument/2006/relationships" id="263" r:id="R483cb18b52874fb9"/>
    <p:sldId xmlns:r="http://schemas.openxmlformats.org/officeDocument/2006/relationships" id="264" r:id="R05189023ede642bd"/>
    <p:sldId xmlns:r="http://schemas.openxmlformats.org/officeDocument/2006/relationships" id="265" r:id="R5406b890ded94eb8"/>
    <p:sldId xmlns:r="http://schemas.openxmlformats.org/officeDocument/2006/relationships" id="266" r:id="R653f054e7c1e4890"/>
    <p:sldId xmlns:r="http://schemas.openxmlformats.org/officeDocument/2006/relationships" id="267" r:id="R22ba4f5e373543fe"/>
    <p:sldId xmlns:r="http://schemas.openxmlformats.org/officeDocument/2006/relationships" id="268" r:id="R0d59a2a3763049be"/>
    <p:sldId xmlns:r="http://schemas.openxmlformats.org/officeDocument/2006/relationships" id="269" r:id="R4957cdafa8da45dc"/>
    <p:sldId xmlns:r="http://schemas.openxmlformats.org/officeDocument/2006/relationships" id="270" r:id="R989de0332eae45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e8b1835ed548a0" /><Relationship Type="http://schemas.openxmlformats.org/officeDocument/2006/relationships/slideMaster" Target="/ppt/slideMasters/slideMaster1.xml" Id="R8b01eeab3da04ef8" /><Relationship Type="http://schemas.openxmlformats.org/officeDocument/2006/relationships/notesMaster" Target="/ppt/notesMasters/notesMaster1.xml" Id="R468c84c7aaee4e5b" /><Relationship Type="http://schemas.openxmlformats.org/officeDocument/2006/relationships/presProps" Target="/ppt/presProps.xml" Id="Red5b59b6ddb44dcb" /><Relationship Type="http://schemas.openxmlformats.org/officeDocument/2006/relationships/tableStyles" Target="/ppt/tableStyles.xml" Id="Ra1a778e272a14b78" /><Relationship Type="http://schemas.openxmlformats.org/officeDocument/2006/relationships/slide" Target="/ppt/slides/slide1.xml" Id="Rbcd82baa41f14ef1" /><Relationship Type="http://schemas.openxmlformats.org/officeDocument/2006/relationships/slide" Target="/ppt/slides/slide2.xml" Id="R9484754963294331" /><Relationship Type="http://schemas.openxmlformats.org/officeDocument/2006/relationships/slide" Target="/ppt/slides/slide3.xml" Id="Rd5f417ad519445ef" /><Relationship Type="http://schemas.openxmlformats.org/officeDocument/2006/relationships/slide" Target="/ppt/slides/slide4.xml" Id="Rc37235794aeb41f9" /><Relationship Type="http://schemas.openxmlformats.org/officeDocument/2006/relationships/slide" Target="/ppt/slides/slide5.xml" Id="R89fbb2896139473d" /><Relationship Type="http://schemas.openxmlformats.org/officeDocument/2006/relationships/slide" Target="/ppt/slides/slide6.xml" Id="R6c690edc54bc487f" /><Relationship Type="http://schemas.openxmlformats.org/officeDocument/2006/relationships/slide" Target="/ppt/slides/slide7.xml" Id="R7e7965f712f74cd4" /><Relationship Type="http://schemas.openxmlformats.org/officeDocument/2006/relationships/slide" Target="/ppt/slides/slide8.xml" Id="R483cb18b52874fb9" /><Relationship Type="http://schemas.openxmlformats.org/officeDocument/2006/relationships/slide" Target="/ppt/slides/slide9.xml" Id="R05189023ede642bd" /><Relationship Type="http://schemas.openxmlformats.org/officeDocument/2006/relationships/slide" Target="/ppt/slides/slide10.xml" Id="R5406b890ded94eb8" /><Relationship Type="http://schemas.openxmlformats.org/officeDocument/2006/relationships/slide" Target="/ppt/slides/slide11.xml" Id="R653f054e7c1e4890" /><Relationship Type="http://schemas.openxmlformats.org/officeDocument/2006/relationships/slide" Target="/ppt/slides/slide12.xml" Id="R22ba4f5e373543fe" /><Relationship Type="http://schemas.openxmlformats.org/officeDocument/2006/relationships/slide" Target="/ppt/slides/slide13.xml" Id="R0d59a2a3763049be" /><Relationship Type="http://schemas.openxmlformats.org/officeDocument/2006/relationships/slide" Target="/ppt/slides/slide14.xml" Id="R4957cdafa8da45dc" /><Relationship Type="http://schemas.openxmlformats.org/officeDocument/2006/relationships/slide" Target="/ppt/slides/slide15.xml" Id="R989de0332eae45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830a49ca2f4d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6796c5c64d45d1" /><Relationship Type="http://schemas.openxmlformats.org/officeDocument/2006/relationships/notesMaster" Target="/ppt/notesMasters/notesMaster1.xml" Id="R4e245412d36d4a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3dd61e8691b448d" /><Relationship Type="http://schemas.openxmlformats.org/officeDocument/2006/relationships/notesMaster" Target="/ppt/notesMasters/notesMaster1.xml" Id="R4c6ff92ec8314c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8dbe76cd0e4166" /><Relationship Type="http://schemas.openxmlformats.org/officeDocument/2006/relationships/notesMaster" Target="/ppt/notesMasters/notesMaster1.xml" Id="R245a3662006848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fae6a1a1a74a0c" /><Relationship Type="http://schemas.openxmlformats.org/officeDocument/2006/relationships/notesMaster" Target="/ppt/notesMasters/notesMaster1.xml" Id="Rc70081a75c3e4b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4b09c7d9304b9c" /><Relationship Type="http://schemas.openxmlformats.org/officeDocument/2006/relationships/notesMaster" Target="/ppt/notesMasters/notesMaster1.xml" Id="Rbf1b1f1a1b6f4a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c12bd10151454f" /><Relationship Type="http://schemas.openxmlformats.org/officeDocument/2006/relationships/notesMaster" Target="/ppt/notesMasters/notesMaster1.xml" Id="R2aba723111dd492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3486a0bc644822" /><Relationship Type="http://schemas.openxmlformats.org/officeDocument/2006/relationships/notesMaster" Target="/ppt/notesMasters/notesMaster1.xml" Id="Racb807fa551e40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cceb7377334d34" /><Relationship Type="http://schemas.openxmlformats.org/officeDocument/2006/relationships/notesMaster" Target="/ppt/notesMasters/notesMaster1.xml" Id="R9ece3a978cd54c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f5d7d0a099469c" /><Relationship Type="http://schemas.openxmlformats.org/officeDocument/2006/relationships/notesMaster" Target="/ppt/notesMasters/notesMaster1.xml" Id="R3ec70825d15344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790a198ebf4911" /><Relationship Type="http://schemas.openxmlformats.org/officeDocument/2006/relationships/notesMaster" Target="/ppt/notesMasters/notesMaster1.xml" Id="Rf7ec253119bd48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bdb4f09a584956" /><Relationship Type="http://schemas.openxmlformats.org/officeDocument/2006/relationships/notesMaster" Target="/ppt/notesMasters/notesMaster1.xml" Id="R25d6ae7881bd407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3bb5c27f034657" /><Relationship Type="http://schemas.openxmlformats.org/officeDocument/2006/relationships/notesMaster" Target="/ppt/notesMasters/notesMaster1.xml" Id="Re9fcd4208ad145f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a17be0973bd4983" /><Relationship Type="http://schemas.openxmlformats.org/officeDocument/2006/relationships/notesMaster" Target="/ppt/notesMasters/notesMaster1.xml" Id="R9e0e3e19623747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80f8603604d476e" /><Relationship Type="http://schemas.openxmlformats.org/officeDocument/2006/relationships/notesMaster" Target="/ppt/notesMasters/notesMaster1.xml" Id="R33047229abca456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589c98bc3d4439" /><Relationship Type="http://schemas.openxmlformats.org/officeDocument/2006/relationships/notesMaster" Target="/ppt/notesMasters/notesMaster1.xml" Id="Rbbc3eeb453dc42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2 分钟。这里梳理系统音频软件架构，不是播放器、编解码器或音效算法的历史。1990 年代常见设备接口以 OSS 为例，后续 ALSA 提供驱动及用户态接口。设备抽象层并没有被用户态音频服务取代，现代 Linux 音频服务仍常通过 ALSA 对接设备。2000 年代形成两种侧重：PulseAudio 解决桌面多应用共享与流管理，JACK 侧重专业音频的同步回调与应用互连。PulseAudio 在 2006 年从 Polypaudio 更名，不能把更名年份写成前身诞生年份。PipeWire 在 2017 年正式发布项目，2023 年发布 1.0，逐步在统一媒体图里兼顾桌面与专业用途。PreeAudio 放在当代终端系统路线单独说明，不暗示其由 PipeWire 继承，也不给未经核实的首发年份。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https://www.kernel.org/doc/html/latest/sound/index.html</a:t>
            </a:r>
          </a:p>
          <a:p xmlns:a="http://schemas.openxmlformats.org/drawingml/2006/main">
            <a:r>
              <a:t>https://docs.kernel.org/sound/alsa-configuration.html</a:t>
            </a:r>
          </a:p>
          <a:p xmlns:a="http://schemas.openxmlformats.org/drawingml/2006/main">
            <a:r>
              <a:t>https://0pointer.de/blog/projects/pulse-release.html</a:t>
            </a:r>
          </a:p>
          <a:p xmlns:a="http://schemas.openxmlformats.org/drawingml/2006/main">
            <a:r>
              <a:t>https://jackaudio.org/api/index.html</a:t>
            </a:r>
          </a:p>
          <a:p xmlns:a="http://schemas.openxmlformats.org/drawingml/2006/main">
            <a:r>
              <a:t>https://blogs.gnome.org/uraeus/2017/09/19/launching-pipewire/</a:t>
            </a:r>
          </a:p>
          <a:p xmlns:a="http://schemas.openxmlformats.org/drawingml/2006/main">
            <a:r>
              <a:t>https://github.com/PipeWire/pipewire/blob/master/NEWS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2 分钟。第一行说明硬件差异与服务职责逐步分离。第二行说明多应用共享催生流、Sink 和 Source 等管理对象。第三行说明专业处理要求应用在音频周期内合作，图不只是画出来的连接，还涉及运行依赖。第四行强调控制与数据处理分工。这不是严格按年份逐一发生的替换过程，JACK 的图和实时回调在 2000 年代已经出现。对 PreeAudio 可映射到 Manager 管理连接与状态、Node 承担处理、Cluster 组织一组处理，以及 Policy/Service 与引擎间的职责分工。线程实现不可简单等同，HPAE 原有源码资料显示消息与数据处理在同一工作循环中衔接，不能宣称它完全复制 PipeWire 的主线程/数据线程结构。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https://docs.kernel.org/sound/alsa-configuration.html</a:t>
            </a:r>
          </a:p>
          <a:p xmlns:a="http://schemas.openxmlformats.org/drawingml/2006/main">
            <a:r>
              <a:t>https://wiki.freedesktop.org/www/Software/PulseAudio/Documentation/Developer/Threading/</a:t>
            </a:r>
          </a:p>
          <a:p xmlns:a="http://schemas.openxmlformats.org/drawingml/2006/main">
            <a:r>
              <a:t>https://jackaudio.org/api/index.html</a:t>
            </a:r>
          </a:p>
          <a:p xmlns:a="http://schemas.openxmlformats.org/drawingml/2006/main">
            <a:r>
              <a:t>https://docs.pipewire.org/page_scheduling.html</a:t>
            </a:r>
          </a:p>
          <a:p xmlns:a="http://schemas.openxmlformats.org/drawingml/2006/main">
            <a:r>
              <a:t>https://docs.pipewire.org/page_session_manager.html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https://gitcode.com/openharmony/multimedia_audio_framework/blob/93f5fd0909cb495bc673f4eeeea6997c56f63114/services/audio_engine/manager/src/hpae_signal_process_thread.cpp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图据 Gavv 的源码阅读和实验文章 High-level components、Buffering、Threads 整理，并使用官方 Threading 文档交叉核对。原文版本为 PulseAudio 11.1，不将所有模块细节当作当前产品配置。客户端通过 libpulse 接入 Native 协议，控制和流管理由服务主循环协调，实时 I/O 线程面向 Sink 处理音频。共享内存可以运送 PCM，socket 仍承担协议通信，具体传输取决于环境。sink-input 包含流级格式适配等职责，Sink 汇合多流，经后端输出到 ALSA。图只展开一个常见输出方向。PA 主循环/实时线程分工与 HPAE 的消息/数据执行机制不一一对应。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https://wiki.freedesktop.org/www/Software/PulseAudio/Documentation/Developer/Threading/</a:t>
            </a:r>
          </a:p>
          <a:p xmlns:a="http://schemas.openxmlformats.org/drawingml/2006/main">
            <a:r>
              <a:t>https://gavv.net/articles/pulseaudio-under-the-hood/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https://gitcode.com/openharmony/multimedia_audio_framework/blob/93f5fd0909cb495bc673f4eeeea6997c56f63114/services/audio_engine/manager/src/hpae_renderer_manager.cpp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主图是根据 Fons Adriaensen 的 A quick introduction to Jack 的客户端、端口、处理周期和调度说明重绘的教学图，不是 JACK 某一版本的完整内部类图。输入端口把采集结果交给 A、B 两个客户端，C 在两者结果可用后处理，最后写往播放端口。每个客户端链接 libjack 并注册 process() 回调，应用的实时处理线程参与执行；音频端口缓冲可位于共享内存，控制消息与音频样本传输需要区分。JACK server 管理连接和运行周期，Backend 抽象设备访问。JACK1 与 JACK2 的调度实现不同，JACK2 在依赖允许时可并行，不能把所有 JACK 系统概括为固定串行执行，也不能断言任何分支一定同时运行。与 PreeAudio 的主要差异是客户端应用互连图与系统引擎内部处理图的集成边界。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https://jackaudio.org/api/index.html</a:t>
            </a:r>
          </a:p>
          <a:p xmlns:a="http://schemas.openxmlformats.org/drawingml/2006/main">
            <a:r>
              <a:t>https://kokkinizita.linuxaudio.org/export/jackpres.pdf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以机制和策略分工解释 PipeWire 的设计理念。WirePlumber 决定设备与连接策略，PipeWire 的主线程处理对象配置与 IPC，数据线程执行已准备好的图。Driver 发起周期，节点在依赖满足后运行，通过共享的 activation 记录及 eventfd 协调，缓冲等资源预先准备。图中的依赖唤醒是同步图的简化示例，异步节点另有处理方式。与 PreeAudio 对比：二者都有节点与图，不应把节点化本身当作区别。PipeWire 以通用媒体图为中心，可以跨进程组织媒体处理；本次公开 HPAE 实现以 Manager 组织 Node/Cluster，在工作循环中衔接消息与 Process。PreeAudio 的策略规则由 Policy/Service 与引擎协作，不能宣称策略与机制分工是某一方独有。差异落在图的组织尺度、控制到执行的职责分配，以及场景处理单元的组织。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https://docs.pipewire.org/page_scheduling.html</a:t>
            </a:r>
          </a:p>
          <a:p xmlns:a="http://schemas.openxmlformats.org/drawingml/2006/main">
            <a:r>
              <a:t>https://docs.pipewire.org/page_session_manager.html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https://gitcode.com/openharmony/multimedia_audio_framework/blob/93f5fd0909cb495bc673f4eeeea6997c56f63114/services/audio_engine/manager/src/hpae_signal_process_thread.cpp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https://gitcode.com/openharmony/multimedia_audio_framework/blob/93f5fd0909cb495bc673f4eeeea6997c56f63114/services/audio_engine/manager/src/hpae_renderer_manager.cpp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建议讲述 2 分钟。这里对比可观察到的架构重心，设计出发点和取舍是基于机制的归纳，不冒充内部设计目标声明。PA 围绕流与设备组织通用音频服务，JACK 把各处理者纳入共同周期及依赖约束，PipeWire 把通用媒体图执行与会话策略分工，PreeAudio 的公开 HPAE 结构体现 Manager、Node、Cluster 对场景处理及状态的组织。四者都有实时性、缓冲和动态控制问题，不把任何共性包装成独有优势。本次 HPAE 工作循环是消息处理后衔接数据处理，不能泛化为整个系统只有一个线程。没有统一测量时不宣称谁的时延、功耗或音质更好。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https://wiki.freedesktop.org/www/Software/PulseAudio/</a:t>
            </a:r>
          </a:p>
          <a:p xmlns:a="http://schemas.openxmlformats.org/drawingml/2006/main">
            <a:r>
              <a:t>https://wiki.freedesktop.org/www/Software/PulseAudio/Documentation/Developer/Threading/</a:t>
            </a:r>
          </a:p>
          <a:p xmlns:a="http://schemas.openxmlformats.org/drawingml/2006/main">
            <a:r>
              <a:t>https://jackaudio.org/api/index.html</a:t>
            </a:r>
          </a:p>
          <a:p xmlns:a="http://schemas.openxmlformats.org/drawingml/2006/main">
            <a:r>
              <a:t>https://docs.pipewire.org/page_design.html</a:t>
            </a:r>
          </a:p>
          <a:p xmlns:a="http://schemas.openxmlformats.org/drawingml/2006/main">
            <a:r>
              <a:t>https://docs.pipewire.org/page_scheduling.html</a:t>
            </a:r>
          </a:p>
          <a:p xmlns:a="http://schemas.openxmlformats.org/drawingml/2006/main">
            <a:r>
              <a:t>https://docs.pipewire.org/page_session_manager.html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https://gitcode.com/openharmony/multimedia_audio_framework/blob/93f5fd0909cb495bc673f4eeeea6997c56f63114/services/audio_service/server/src/i_stream_manager.cpp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https://gitcode.com/openharmony/multimedia_audio_framework/blob/93f5fd0909cb495bc673f4eeeea6997c56f63114/services/audio_engine/manager/src/hpae_renderer_manager.cpp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来源原图，未重绘。阅读顺序为 client、transport、server、alsa。原图区分 socket buffers 与共享内存池，继而展示 stream buffer、resampler buffer、render queue 和 device buffer。适合在需要解释多级缓冲时作为备份素材使用，不能把原图当作当前所有 PA 配置的唯一实现。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https://gavv.net/articles/pulseaudio-under-the-hood/</a:t>
            </a:r>
          </a:p>
          <a:p xmlns:a="http://schemas.openxmlformats.org/drawingml/2006/main">
            <a:r>
              <a:t>https://gavv.net/articles/pulseaudio-under-the-hood/diagrams/buffers.png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原图给出多个客户端和端口的分支、汇合关系。同步处理周期的概念顺序是采集就绪、运行满足依赖的客户端、完成下游处理、向设备提交结果。process(nframes) 在实时线程内读取输入端口缓冲、执行本块 DSP、填充输出端口缓冲。不要在回调中引入可能阻塞的磁盘 I/O、分配或锁等待，具体限制见官方 jack_set_process_callback 文档。假设块长 N=128、采样率 48kHz，名义周期 T=N/fs 约为2.67ms，这只是块周期；读写设备、驱动、安全缓冲与运行模式还会影响端到端时延。整个图、同步与调度开销需要放进预算，不能给每个节点都独占2.67ms。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https://kokkinizita.linuxaudio.org/export/jackpres.pdf</a:t>
            </a:r>
          </a:p>
          <a:p xmlns:a="http://schemas.openxmlformats.org/drawingml/2006/main">
            <a:r>
              <a:t>https://jackaudio.org/api/group__ClientCallbacks.html</a:t>
            </a:r>
          </a:p>
          <a:p xmlns:a="http://schemas.openxmlformats.org/drawingml/2006/main">
            <a:r>
              <a:t>https://jackaudio.org/api/index.html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jackdmp 2005 原始论文及 JACK2 README 解释数据流激活。JACK1 的经典模型把客户图排列成串行激活顺序；JACK2 允许依赖已满足的独立客户端同时运行，能否并行取决于图、可用核和系统调度。上图选取 A 然后 B 然后 C 然后 D 的一种合法串行顺序，计算工作合计8单位。下图假设两个工作核可用，A与B从0同时开始，C必须等B在第3单位完成，再运行2单位，D最后运行1单位，总计6单位。关键路径为max(A,B)+C+D，不能把所有节点的计算时间简单除以核数，也不能从该算例推导真实加速比。JACK2 的图访问使用无锁技术，目的是减少图变化干扰实时执行，此描述只针对图访问，不等同于全引擎所有路径无锁。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https://archive2010.grame.fr/ressources/publications/Jackdmp-lac2005.pdf</a:t>
            </a:r>
          </a:p>
          <a:p xmlns:a="http://schemas.openxmlformats.org/drawingml/2006/main">
            <a:r>
              <a:t>https://raw.githubusercontent.com/jackaudio/jack2/develop/README.rst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JACK2 README 区分两种服务器级激活模式。同步模式在当前周期等待图内客户端完成，然后使用当前周期的输出。异步模式使用上一周期算好的输出，并在当前周期运行新一轮图，从而解耦设备交付和当前计算。代价是相对同步模型多一个处理周期的流水线等待。若某一客户端未能按期运行，其他客户端仍可能继续并产生部分输出，这不构成任意负载下无断音的保证。同步/异步与串行/并行是不同维度，不可把异步等同于多核并行，也不能把异步理解成没有实时截止期。块周期为2.67ms的教学例子中，这一流水线代价约为2.67ms，设备及其它缓冲时延另计。作者论文讨论各模式的容错行为，不能把所有晚到问题都视为被隔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https://raw.githubusercontent.com/jackaudio/jack2/develop/README.rst</a:t>
            </a:r>
          </a:p>
          <a:p xmlns:a="http://schemas.openxmlformats.org/drawingml/2006/main">
            <a:r>
              <a:t>https://lac.linuxaudio.org/2009/cdm/Thursday/01_Letz/01.pdf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WirePlumber 的会话管理不仅是连线，还包括设备启用、配置、部分访问控制、节点配置、链接及元数据管理。用设备变化的概念示例串起这些职责：监视器发现设备，策略依据配置和偏好作选择，配置节点格式与端口，管理连接，使媒体图满足当前场景。实际实现是持续事件处理，图中顺序用于理解职责，不表示每次热插拔都严格走同一调用链。控制决策不需要逐块参与音频运算。PipeWire 的主线程处理对象与配置，数据线程执行已准备好的图。对照 PreeAudio：Policy/Service 与引擎也有职责分工，具体差异应看规则如何转化为 Manager 的连接和状态更新，不能把策略分离当作 PipeWire 独有特性。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https://pipewire.pages.freedesktop.org/wireplumber/design/understanding_session_management.html</a:t>
            </a:r>
          </a:p>
          <a:p xmlns:a="http://schemas.openxmlformats.org/drawingml/2006/main">
            <a:r>
              <a:t>https://docs.pipewire.org/page_session_manager.html</a:t>
            </a:r>
          </a:p>
          <a:p xmlns:a="http://schemas.openxmlformats.org/drawingml/2006/main">
            <a:r>
              <a:t>https://docs.pipewire.org/page_scheduling.html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Graph Scheduling 文档解释同步图。Driver 由硬件事件或定时器等发起处理周期；节点激活记录包含 required 与 pending 等状态，依赖未满足时不能执行。图中 A、B 可运行，C 依赖两者。示例在 Driver 发起周期并释放其门控依赖后，只显示上游工作依赖，因此 C 从2到1再到0。A完成会减少C的待满足依赖数，B完成后C就绪，通过eventfd触发处理。这个简化计数不能直接当作真实activation结构完整数值，因为真实图还包括Driver相关依赖及完成回报。节点完成后继续传播就绪条件，周期结束时Driver可统计处理情况。异步节点不遵循同一同步依赖链，第14页另讲。与HPAE相比，应具体核对其Manager如何驱动OutputCluster并向上游取数，不因两者都叫处理图就假定调度器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https://docs.pipewire.org/page_scheduling.html</a:t>
            </a:r>
          </a:p>
          <a:p xmlns:a="http://schemas.openxmlformats.org/drawingml/2006/main">
            <a:r>
              <a:t>https://gitcode.com/openharmony/multimedia_audio_framework/blob/93f5fd0909cb495bc673f4eeeea6997c56f63114/services/audio_engine/manager/src/hpae_renderer_manager.cpp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 Design、Objects Design 与 Graph Scheduling 文档。PipeWire节点可以位于服务进程或客户端进程。主线程先进行IPC与图配置，在处理开始前准备缓冲、I/O区域和激活记录。对远端节点，此处远端指其它本机进程，eventfd与activation记录可传递给客户端；客户端可以直接唤醒相连节点，不要求每一步都回服务器中转。样本数据与唤醒信号是两类信息：共享缓冲承载媒体块，eventfd传递运行通知，activation记录保存执行及依赖状态。图中只画主要关系，未列所有映射、权限与驱动节点。共享内存不是全链零拷贝保证，媒体转换和混音可能产生新的缓冲或复制。对PreeAudio的比较应落在图执行者的分布及缓冲所有权，而不是应用调用哪个API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https://docs.pipewire.org/page_design.html</a:t>
            </a:r>
          </a:p>
          <a:p xmlns:a="http://schemas.openxmlformats.org/drawingml/2006/main">
            <a:r>
              <a:t>https://docs.pipewire.org/page_objects_design.html</a:t>
            </a:r>
          </a:p>
          <a:p xmlns:a="http://schemas.openxmlformats.org/drawingml/2006/main">
            <a:r>
              <a:t>https://docs.pipewire.org/page_scheduling.html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依据Graph Scheduling的Async scheduling章节。异步节点不计入普通同步节点之间的依赖，完成与否不影响同步图周期完成。为避免并行读写同一块数据，异步链接使用两个I/O缓冲槽：周期计数为c时，输出使用(c+1)&amp;1槽，输入使用c&amp;1槽。因而消费者读取上一周期的结果，通常每条异步Link增加一个图周期的延迟。这里采用稳态示例，周期0的槽0中已有上一周期的数据；启动时可能为空。Driver输出存在特殊处理，未在该页展开。异步处理可隔离同步图对该节点的完成依赖，但不保证晚到节点内容始终完整或无失真。JACK2服务器级同步/异步激活与这里的节点/Link级异步机制作用范围不同，不能直接等同。PreeAudio若要做类似比较，需要核实是否存在对应的跨周期缓冲和调度边界，不能仅凭异步消息队列类名推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https://docs.pipewire.org/page_scheduling.html</a:t>
            </a:r>
          </a:p>
          <a:p xmlns:a="http://schemas.openxmlformats.org/drawingml/2006/main">
            <a:r>
              <a:t>https://docs.pipewire.org/group__spa__buffer.html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保留作者 Overview 架构图原页，作为可放大阅读的素材参考。该图同时展示音频与视频生态，包含应用兼容接口、WirePlumber、媒体图、SPA、ALSA-lib、BlueZ、libcamera 与内核设备。它属于 2024 年讲义快照，不把当年的实现细节或状态列表当作当前版本承诺。主稿第 5 页展开策略、控制与图执行的架构分工，原图用于补充整体背景。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资料来源（查阅日期 2026-10-22）</a:t>
            </a:r>
          </a:p>
          <a:p xmlns:a="http://schemas.openxmlformats.org/drawingml/2006/main">
            <a:r>
              <a:t>https://archive.fosdem.org/2024/events/attachments/fosdem-2024-1988-pipewire-state-of-the-union/slides/22795/PipeWire-slides_JBa52sZ.pdf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fab519439047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bae55fbf354c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c926ce9cd1488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41a7c13d81462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924ce0c60f44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8b6ba55e9f43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A779B8-499D-462C-B769-D26FFF19AE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0CB5F71-60B4-4339-9F31-D685AE94A92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8E6946F-54E8-4EE1-BE84-2EF904F167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FFEDCAC-B112-4B86-B051-8A5EBC5692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4DDFD25-3BB3-4AE6-83DD-F030F65FF4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6346E43-09CD-413A-B84B-D989692116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5FF6EAE-A15D-4BCF-BE1E-DC9E959C6E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A5170F1-8368-40BE-9BC1-97F2A69B508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200635-824B-4B0D-9CA4-40961D03D9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5859C1-7968-4442-B39F-B6B01401C2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1b4d87b7cb4906" /><Relationship Type="http://schemas.openxmlformats.org/officeDocument/2006/relationships/slideLayout" Target="/ppt/slideLayouts/slideLayout1.xml" Id="R01f829977f8c4914" /><Relationship Type="http://schemas.openxmlformats.org/officeDocument/2006/relationships/slideLayout" Target="/ppt/slideLayouts/slideLayout2.xml" Id="Reffb35c6ab174635" /><Relationship Type="http://schemas.openxmlformats.org/officeDocument/2006/relationships/slideLayout" Target="/ppt/slideLayouts/slideLayout3.xml" Id="R2765f1845d1a4718" /><Relationship Type="http://schemas.openxmlformats.org/officeDocument/2006/relationships/slideLayout" Target="/ppt/slideLayouts/slideLayout4.xml" Id="R101e38c0e7fb4f91" /><Relationship Type="http://schemas.openxmlformats.org/officeDocument/2006/relationships/slideLayout" Target="/ppt/slideLayouts/slideLayout5.xml" Id="R80316797eefb4b65" /><Relationship Type="http://schemas.openxmlformats.org/officeDocument/2006/relationships/slideLayout" Target="/ppt/slideLayouts/slideLayout6.xml" Id="Rd103957eb3aa48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f829977f8c4914"/>
    <p:sldLayoutId xmlns:r="http://schemas.openxmlformats.org/officeDocument/2006/relationships" id="2147483650" r:id="Reffb35c6ab174635"/>
    <p:sldLayoutId xmlns:r="http://schemas.openxmlformats.org/officeDocument/2006/relationships" id="2147483651" r:id="R2765f1845d1a4718"/>
    <p:sldLayoutId xmlns:r="http://schemas.openxmlformats.org/officeDocument/2006/relationships" id="2147483652" r:id="R101e38c0e7fb4f91"/>
    <p:sldLayoutId xmlns:r="http://schemas.openxmlformats.org/officeDocument/2006/relationships" id="2147483653" r:id="R80316797eefb4b65"/>
    <p:sldLayoutId xmlns:r="http://schemas.openxmlformats.org/officeDocument/2006/relationships" id="2147483654" r:id="Rd103957eb3aa48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8fe0d687ee4407" /><Relationship Type="http://schemas.openxmlformats.org/officeDocument/2006/relationships/notesSlide" Target="/ppt/notesSlides/notesSlide1.xml" Id="Rdd1828c1d56f4f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dc84cd5eea427c" /><Relationship Type="http://schemas.openxmlformats.org/officeDocument/2006/relationships/notesSlide" Target="/ppt/notesSlides/notesSlide2.xml" Id="R3130ebf3c55b41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9d99b70fd4e34" /><Relationship Type="http://schemas.openxmlformats.org/officeDocument/2006/relationships/notesSlide" Target="/ppt/notesSlides/notesSlide3.xml" Id="R57907228f1dd44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a26c969ff940d6" /><Relationship Type="http://schemas.openxmlformats.org/officeDocument/2006/relationships/notesSlide" Target="/ppt/notesSlides/notesSlide4.xml" Id="R5a7b6984807c41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91ed8cc64c4d33" /><Relationship Type="http://schemas.openxmlformats.org/officeDocument/2006/relationships/notesSlide" Target="/ppt/notesSlides/notesSlide5.xml" Id="R4fb58a2be8394c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43898717e54470" /><Relationship Type="http://schemas.openxmlformats.org/officeDocument/2006/relationships/notesSlide" Target="/ppt/notesSlides/notesSlide6.xml" Id="Rfcb25240d7bc40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a964a2f7140d4" /><Relationship Type="http://schemas.openxmlformats.org/officeDocument/2006/relationships/image" Target="/ppt/media/image.png" Id="R93447a9da07c4f02" /><Relationship Type="http://schemas.openxmlformats.org/officeDocument/2006/relationships/notesSlide" Target="/ppt/notesSlides/notesSlide7.xml" Id="Rc17e122bc49b4e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1c65d3ecd3419c" /><Relationship Type="http://schemas.openxmlformats.org/officeDocument/2006/relationships/image" Target="/ppt/media/image2.png" Id="R6f7b0919a3d44e82" /><Relationship Type="http://schemas.openxmlformats.org/officeDocument/2006/relationships/notesSlide" Target="/ppt/notesSlides/notesSlide8.xml" Id="R46453bdacbe74b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3e6db0a1f64c1d" /><Relationship Type="http://schemas.openxmlformats.org/officeDocument/2006/relationships/notesSlide" Target="/ppt/notesSlides/notesSlide9.xml" Id="Rfe2cfebbefae4f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5c1d3578c54599" /><Relationship Type="http://schemas.openxmlformats.org/officeDocument/2006/relationships/notesSlide" Target="/ppt/notesSlides/notesSlide10.xml" Id="R336eb132c1e44e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cac1b9d91043c1" /><Relationship Type="http://schemas.openxmlformats.org/officeDocument/2006/relationships/notesSlide" Target="/ppt/notesSlides/notesSlide11.xml" Id="Rb2cc7906f18242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8e238f7b1047fb" /><Relationship Type="http://schemas.openxmlformats.org/officeDocument/2006/relationships/notesSlide" Target="/ppt/notesSlides/notesSlide12.xml" Id="R1831e8cf537643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722c3a56804fb6" /><Relationship Type="http://schemas.openxmlformats.org/officeDocument/2006/relationships/notesSlide" Target="/ppt/notesSlides/notesSlide13.xml" Id="Re45e6c204e7a4f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7ccd94fd504f1d" /><Relationship Type="http://schemas.openxmlformats.org/officeDocument/2006/relationships/notesSlide" Target="/ppt/notesSlides/notesSlide14.xml" Id="R6df33522ebe64e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1da99af35c4693" /><Relationship Type="http://schemas.openxmlformats.org/officeDocument/2006/relationships/image" Target="/ppt/media/image3.png" Id="R7870e9d87e404b0b" /><Relationship Type="http://schemas.openxmlformats.org/officeDocument/2006/relationships/notesSlide" Target="/ppt/notesSlides/notesSlide15.xml" Id="Rf0014210c04949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0979BB-B71C-4B4B-BBC6-B520E64D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音频引擎的软件架构演进时间线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66064-BB62-412B-A189-D17F898E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以 Linux / POSIX 路线为主，观察设备抽象、共享服务和实时处理如何发展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ECB36-0553-4D86-BDC8-55BEBC25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E8358-AF28-4BC7-BC0A-FE3E5736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年代表示代表性阶段，各层与路线长期并存。PreeAudio 的定位沿用现有分享材料中的公开源码快照。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BD632-A527-47BB-A8D4-87F1E22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A6122B-2EAD-4A52-B023-CF8DAFE5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1990 年代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2BA202-228E-49CA-ABA5-5C751690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2790825"/>
            <a:ext cx="2476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3A92F-7C0E-4B12-B7CD-198506DD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86100" y="2790825"/>
            <a:ext cx="2952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C224BE-F64F-4BFE-AB5D-E66F0A27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14700" y="27432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8F8604-5120-40CB-9323-4E3CB288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314700" y="27908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7578C-0062-4F04-BF3B-D925858A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设备接口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5AA48-6839-442B-AE21-F891DEF5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OSS 等设备接口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CE163-3629-44D4-AB14-CD27825E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应用直接读写设备</a:t>
            </a:r>
          </a:p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上层承担更多协调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847457-3A21-4D11-8ACA-35F2D5BF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24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1990 年代末起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FEEE40-1320-4D09-8E8C-3A174BBA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81375" y="2790825"/>
            <a:ext cx="2476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F547AE-D869-49D8-A5FD-7F1C3A9F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857875" y="2790825"/>
            <a:ext cx="2952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5A4884-8B78-4BE3-966F-5F209C4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86475" y="27432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21ED5-03AB-4D9C-83AC-DBDE69AD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086475" y="27908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78C80F-8B42-46BA-9E45-AC2FA528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8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驱动与库分层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E4D995-4192-45A1-B468-2DE3CF67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6385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ALSA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8A61A4-9B1B-4C00-97CA-AC1F5966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2291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统一硬件访问</a:t>
            </a:r>
          </a:p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为上层服务提供底座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17DFA9-3F9E-4C5E-8FE6-6A3C4AB6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24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2000 年代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B25F20-286F-449A-8BFE-663146E9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53150" y="2790825"/>
            <a:ext cx="2476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3D61C2-2582-47BC-88FE-8EA18699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629650" y="2790825"/>
            <a:ext cx="2952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7460A5-B05E-43DA-8EFB-CDFEDCF3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858250" y="27432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514F23-0A2E-459D-931D-A7553372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858250" y="27908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8FA39F-7050-4B56-99CE-A589ABC7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48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用户态音频服务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7534E8-ABE8-48FF-B78D-6B87CC8E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385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PulseAudio / JACK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4872BD-4917-4D00-B697-9DBEC419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291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桌面多流管理</a:t>
            </a:r>
          </a:p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专业同步处理分化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9EC647-FCDB-413A-AE9B-D1E8F997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124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2017 年至今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B32C8F-CBA1-42D3-88AF-F30D9946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24925" y="2790825"/>
            <a:ext cx="2476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21EA9F-BE31-4A87-97B4-96B921AD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0480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统一媒体图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93DB35-0797-43AA-BFA3-03AB9821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36385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PipeWire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EB2B72-02EC-435A-8355-7DA0F7D8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2291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音视频节点与连接</a:t>
            </a:r>
          </a:p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兼顾桌面和专业音频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22EE16-D030-4208-83B8-89D969F1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19675"/>
            <a:ext cx="257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2006 年更名为 PulseAudio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B68336-7D1A-472C-858A-BECDDEFA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5019675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2023 年发布 1.0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4D4B5D-E874-4CBE-8082-A4E08357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533400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105A4A-6D0B-46CC-87CA-5EC1C166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当代终端路线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AFA6D5-445B-43F5-AB4B-E949DEC0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486400"/>
            <a:ext cx="847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PreeAudio：在鸿蒙音频框架内组织节点处理，衔接系统策略与设备输出</a:t>
            </a:r>
          </a:p>
        </p:txBody>
      </p:sp>
    </p:spTree>
    <p:extLst>
      <p:ext uri="{BB962C8B-B14F-4D97-AF65-F5344CB8AC3E}">
        <p14:creationId xmlns:p14="http://schemas.microsoft.com/office/powerpoint/2010/main" val="19995452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565A3-ABF9-4BFD-A4E9-87F39EB2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演进中的四个软件架构变化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426CF-DE6F-43EC-BD43-6BA5B47B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新增需求不断改变职责划分，现代方案把更多运行机制明确到框架中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48402-EBB4-45D0-9488-EB6579DF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2A3D2-EEBB-4986-92F3-9A40F0CD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这里比较设计侧重，不表示早期方案完全缺少相关能力，也不构成不同产品的性能排名。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E81DB-7A6B-41BF-AF36-C20269CF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8EDA2-FD38-4B0F-A413-1F0A35A9A4C3}"/>
              </a:ext>
            </a:extLst>
          </p:cNvPr>
          <p:cNvGraphicFramePr/>
          <p:nvPr/>
        </p:nvGraphicFramePr>
        <p:xfrm>
          <a:off xmlns:a="http://schemas.openxmlformats.org/drawingml/2006/main" x="609600" y="2133600"/>
          <a:ext xmlns:a="http://schemas.openxmlformats.org/drawingml/2006/main" cx="10972800" cy="3448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38350"/>
                <a:gridCol w="4857750"/>
                <a:gridCol w="4076700"/>
              </a:tblGrid>
              <a:tr h="689610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架构问题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代表性变化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 PreeAudio 的理解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</a:tr>
              <a:tr h="689610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硬件访问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设备接口逐步形成驱动、库和服务分层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引擎经 Sink 对接设备边界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89610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多应用共享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音频服务管理流、混音与设备输出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Manager 组织输入流和输出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89610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复杂处理组织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处理单元形成图，按依赖交付数据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Node / Cluster 承接处理管线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89610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动态状态变化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控制、策略与实时处理明确分工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Policy / Service / Engine 协作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36002-7E94-4429-B879-85FA919E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架构主线：硬件访问逐步抽象，处理单元逐步组合，运行职责逐步分离</a:t>
            </a:r>
          </a:p>
        </p:txBody>
      </p:sp>
    </p:spTree>
    <p:extLst>
      <p:ext uri="{BB962C8B-B14F-4D97-AF65-F5344CB8AC3E}">
        <p14:creationId xmlns:p14="http://schemas.microsoft.com/office/powerpoint/2010/main" val="10293086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37409F9-2FE3-409F-BADB-01DF4241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PulseAudio：以流和设备组织音频服务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4E6B6-D468-4F5F-9D52-B54BFAB2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设计侧重多流共享与设备管理，主循环和实时 I/O 通过消息协作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F8954-F641-40F7-BDB2-01658A75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E6135-E085-4917-B56F-62482A51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参考 Gavv（2017，PA 11.1）与官方线程文档重绘。蓝色为 PCM 数据，紫色虚线为控制关系。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6A1DD-EA67-47D7-A60A-7B64910E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809BA-2459-41E5-B998-1875AEA1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0002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BDF698-0BB4-446E-9F3A-8F6F71B0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173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客户端进程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96ABE6-2D90-41C6-8B29-D2342299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43053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C4342A-9DEE-47DD-A67F-75E26827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143125"/>
            <a:ext cx="403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PulseAudio 服务进程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20CB4-FD60-46AC-8BA0-9F0DA211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1657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8AA159-14B9-4719-B74D-B15560BD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46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应用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8409F-5B83-49A7-837B-EEAEE203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95675"/>
            <a:ext cx="1657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7EA4F-C6B8-4C41-A92B-74FF4FDB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4668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libpulse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BD7038-8B40-4F15-9825-3C10AF87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609725" y="3171825"/>
            <a:ext cx="95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1315F-2A71-4FF9-B51C-9A748525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62100" y="3429000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5EC93-B43C-4E50-AE22-6C8D9E43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609725" y="3429000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EDB51-92E0-4DF7-9F28-16032397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28900"/>
            <a:ext cx="184785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24C67-FBF6-4230-BB15-AAF0E2C8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67000"/>
            <a:ext cx="16573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Native 协议模块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74F83-EFC0-485B-AB03-D5831E2A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28900"/>
            <a:ext cx="1905000" cy="542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8D03D-829D-4622-8645-0E8D22DC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67000"/>
            <a:ext cx="1714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Core / Modules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5E772-D8B0-41FD-AE57-C47B1B4B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05600" y="2895600"/>
            <a:ext cx="2095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DD1AF6-C61F-4705-A578-F4B4601B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48475" y="28479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9AE891-A4ED-4B57-9794-4576A75B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848475" y="28956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87821D-3085-46DA-9C89-AC66C1E7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670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主循环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66CB9A-A70C-47B5-9EDA-817E312D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38400" y="3743325"/>
            <a:ext cx="3619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D6C81C-7458-4918-A4E9-03CACB8C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00350" y="2895600"/>
            <a:ext cx="95" cy="847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C97A86-D967-4036-88AC-825479EE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00350" y="2895600"/>
            <a:ext cx="2057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7ED61A-F46D-403D-B411-3FE2347C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91075" y="28479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BBC860-386D-4C2B-97C5-231908DF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791075" y="28956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D23690-B27D-41D4-9BE2-49C6F872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524125"/>
            <a:ext cx="166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socket / 协议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2C5BDC-BEC9-4AA0-9A38-FB26E724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76725"/>
            <a:ext cx="1524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196570-4916-4F39-92B7-73DCF9CE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14825"/>
            <a:ext cx="133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共享内存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PCM 传输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1CB0ED-7786-489E-8923-F31D5CB3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38400" y="3819525"/>
            <a:ext cx="2667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56DCF6-D1A9-4211-85AF-647FD84C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5100" y="3819525"/>
            <a:ext cx="95" cy="809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616189-80CC-4A52-9599-38258BD0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5100" y="4629150"/>
            <a:ext cx="2667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3F259-E582-4E92-979A-4F1942CE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45815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9F7F3E-DF23-48A1-B156-8E6214DB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905125" y="46291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CDC5D9-2D7F-448E-89FC-35915880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09975"/>
            <a:ext cx="3962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实时 I/O 线程：pa_rtpoll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8A7231-F64F-4BD6-BACB-91F10DF3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48125"/>
            <a:ext cx="1847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F710CC-4A1D-4074-B191-8F88A5CE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86225"/>
            <a:ext cx="1657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sink-input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适配 / 音量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7F54FF-A74A-478E-960B-B47CD8B6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48125"/>
            <a:ext cx="1905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C7AD25-D649-4596-823A-30F7A14A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86225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Sink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混音 / 设备时钟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F354C95-D9B0-48BA-9DB8-DF192395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95800" y="4629150"/>
            <a:ext cx="3619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5A5C83-9E86-4E55-BFC7-E2F5FB97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91075" y="45815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84CFA9-5ED8-4103-BC2D-FA4E750B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791075" y="46291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5F7EAB-82C1-45AF-9AF0-089B040A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05600" y="4419600"/>
            <a:ext cx="2095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B25E99-FA50-4027-BAE7-500E8411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48475" y="43719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BCE47F-2ABB-4ECE-8247-BD5FB2B5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848475" y="44196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519DE9-F750-4663-A495-3315F6B7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48600" y="3171825"/>
            <a:ext cx="95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B3E283-AB8C-4061-ACFC-7CE6A74F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00975" y="3981450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29853A-95CC-4FA7-889C-9500F6B8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848600" y="3981450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D1A8457-98C9-4472-9D01-9C64983F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6707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pa_asyncmsgq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EA5EE6-8A16-43D9-97F7-408BAE14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48600" y="4791075"/>
            <a:ext cx="95" cy="771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CEA35B-119C-47B8-95E1-BB6FE653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800975" y="549592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8BF27F2-38C2-4314-A7F7-70DD7C5D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848600" y="549592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C7D3D8-544B-413F-9D0B-74B30D3E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62600"/>
            <a:ext cx="28575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D6F1C01-2487-44AA-BF3F-1E83AF2A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00700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ALSA 后端与设备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9255172-4C41-4BB8-83E1-AA881A7F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336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与 PreeAudio 对照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0247F03-0E84-4ED7-A850-19F58F4E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686050"/>
            <a:ext cx="2238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PA 以流、Sink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和设备时钟组织服务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缓冲承担协调作用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PreeAudio 用节点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与处理簇组织计算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Manager 管连接状态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比较重点是流管理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与处理管线的组织</a:t>
            </a:r>
          </a:p>
        </p:txBody>
      </p:sp>
    </p:spTree>
    <p:extLst>
      <p:ext uri="{BB962C8B-B14F-4D97-AF65-F5344CB8AC3E}">
        <p14:creationId xmlns:p14="http://schemas.microsoft.com/office/powerpoint/2010/main" val="14827448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02D657-2F42-412A-8F0B-972B0EB2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JACK：共享端口缓冲与依赖图调度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DFD46-E639-4C3F-9954-267B9D2C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跨应用的 process() 回调按连接依赖协作，JACK2 可利用互不依赖的分支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09964-5C33-4D29-8381-110A461A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6CAA1-4DF1-4057-9B2C-D9D88321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依据 Fons Adriaensen（2014）讲解与 JACK 官方 API 重绘。箭头表示数据依赖，下方说明缓冲与调度职责。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E6CF7-2AFD-4CCA-9FB3-03E28D80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D4D67-DDA9-4508-976E-A37B4D4D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57525"/>
            <a:ext cx="13811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040185-3A15-4F18-96E6-35D9D4BB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1190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采集端口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9FFF-023F-45F0-8818-431F87B7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190750"/>
            <a:ext cx="20669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7F9918-BFA5-420F-B1B5-9BCC8C5E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238375"/>
            <a:ext cx="1800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A 进程 / libjack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0AAE1-148B-4D07-A0BD-50D24ABE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71750"/>
            <a:ext cx="18192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A781A-2E73-462D-8A5C-2F31F75A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09850"/>
            <a:ext cx="16287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process() 回调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EBF90-CDF6-4060-BEA6-4FF1B51A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381375"/>
            <a:ext cx="20669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28864-DF42-4997-8794-1F9A0C50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29000"/>
            <a:ext cx="1800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B 进程 / libjack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A0BE7-AE0E-4802-B73E-5E767520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62375"/>
            <a:ext cx="18192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C131A-2DED-4A21-B763-2AB5A7C4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00475"/>
            <a:ext cx="16287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process() 回调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134AE0-D4FD-4E1E-83F7-D0FA46530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752725"/>
            <a:ext cx="20669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655008-2EA2-4726-9A95-060A8365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800350"/>
            <a:ext cx="1800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C 进程 / libjack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7E0111-FA58-4C2F-B57C-528F4102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71825"/>
            <a:ext cx="18192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5C6908-0590-4FF4-87AB-51E5C0C6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09925"/>
            <a:ext cx="16287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process() 回调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5D090E-F3E8-4AF0-9AC2-F14A551A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3057525"/>
            <a:ext cx="13239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8878D4-87F3-4E1D-8D45-79D87319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095625"/>
            <a:ext cx="11334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播放端口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0D0B04-DB2F-48BE-A3CC-D6528039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90725" y="3371850"/>
            <a:ext cx="2381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E64652-8263-46E8-A35E-DD7A6315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28850" y="2781300"/>
            <a:ext cx="95" cy="1171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71C1C4-1457-46C7-8615-79668EEE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28850" y="2781300"/>
            <a:ext cx="4000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15E4B1-4CED-4F64-B432-5CAE2A85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2225" y="2733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F6AF83-7FA9-4586-B10B-42635E4C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2225" y="27813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5002AB-BA8C-4209-9AF6-E7BD7906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28850" y="3952875"/>
            <a:ext cx="4000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02FE04-C714-4930-B181-EE07D298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2225" y="39052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41CB7B-AA60-4086-88EF-41C54082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562225" y="39528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3FD045-A53D-43B9-AD0A-A0387DC6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48175" y="2781300"/>
            <a:ext cx="4381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C729DB-3C5E-4D11-AC6F-1817C48D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86325" y="2781300"/>
            <a:ext cx="95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8F945D-30D8-44B3-B395-D6B89E48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48175" y="3952875"/>
            <a:ext cx="4381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03DA98-2632-4D52-A212-7535048A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86325" y="3371850"/>
            <a:ext cx="95" cy="581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A2B8FF-3FCF-4AF6-BBC4-9449E4E0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886325" y="3371850"/>
            <a:ext cx="5429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A662C4-8279-432A-8D0C-329DC465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62575" y="33242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993C20-9868-438F-AB5B-D84E31EA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362575" y="33718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655AED-9F48-4948-8ADA-44217EB6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48525" y="3371850"/>
            <a:ext cx="571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4E16F3-4F81-4FDF-A036-FBD6B018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753350" y="33242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FD63FB-CA23-4B0C-9E83-C4E1BEDF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753350" y="33718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4892F3-65E2-48EA-B5DC-CBAA47A5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371975"/>
            <a:ext cx="6629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A、B 可独立处理，C 等待上游结果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CE5790-E6B3-43F4-B857-D558C54F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829175"/>
            <a:ext cx="663892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D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0D41D5-211F-4C25-8A0C-A82B3FF3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857750"/>
            <a:ext cx="63531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端口音频缓冲：共享内存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B18B869-2756-4B42-BD86-636D0F31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8534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695656-9DDD-4F9F-B101-771CEA46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57825"/>
            <a:ext cx="8267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JACK server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C3335D-D0DC-40DB-A387-6016AC93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5572125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Backend / Driver       连接图管理       周期与客户端同步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A02576-0832-49C2-A07D-99BB9F96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336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与 PreeAudio 对照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0CEA31-167E-4921-AB4B-872ABAE7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686050"/>
            <a:ext cx="2238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JACK 让处理者按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共同节奏协作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端口图决定执行依赖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PreeAudio 用处理簇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组织引擎内的计算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Manager 管生命周期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共同约束：周期预算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差异：图的组织尺度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及状态管理职责</a:t>
            </a:r>
          </a:p>
        </p:txBody>
      </p:sp>
    </p:spTree>
    <p:extLst>
      <p:ext uri="{BB962C8B-B14F-4D97-AF65-F5344CB8AC3E}">
        <p14:creationId xmlns:p14="http://schemas.microsoft.com/office/powerpoint/2010/main" val="3350660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70D352-8561-4ABE-BD32-6CF21C47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PipeWire：策略管理与媒体图执行分离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D5B37-3A06-40BF-95B8-94F9B841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控制层配置对象与连接，实时数据线程按图的依赖关系运行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F58F0-4276-4CD6-8731-51751443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5EF9E-F4B5-464F-BB4F-05FE9D25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依据官方 Session Manager / Graph Scheduling 文档重绘。此图展开同步图，省略异步节点和复杂设备路径。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05CC68-2884-44AD-82AF-DC3EE0D4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55B37-7159-488E-87BF-4A1A3843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24574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2664B-124D-485B-BF72-326B7893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226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WirePlumber</a:t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设备与连接策略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2D6BA-9CC7-4A6A-B4A1-40E8907A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71700"/>
            <a:ext cx="5448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6E0D65-C424-4570-A829-3C282D56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209800"/>
            <a:ext cx="5257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PipeWire 主线程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对象 / 连接 / 配置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13EDA-803B-457A-97E2-6C90605A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67050" y="2562225"/>
            <a:ext cx="6286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F7935-4439-49CD-A16B-8415BD39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29025" y="25146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97C829-5CC3-47D2-90C8-24B611B4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29025" y="25622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EDE90-787D-47BD-9BDE-0847832B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8534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控制层：策略决定目标，核心准备图与运行资源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64BD00-D95A-4319-9493-616BD0C9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85344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D90BE-7CDF-4EF6-AE51-6CD0E03F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43325"/>
            <a:ext cx="8267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实时数据线程：按依赖执行图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72864-4688-448A-BB6A-9C00D86D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305300"/>
            <a:ext cx="1619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477A6-C395-4CBD-A52B-FA613A66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4343400"/>
            <a:ext cx="1428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Driver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发起周期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ECBD25-2AA2-41A8-9DD6-ED74EA9C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05300"/>
            <a:ext cx="1619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94C76-099C-4DC7-A16B-B29EBC4D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43400"/>
            <a:ext cx="1428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A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处理数据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EB872A-202C-4206-A434-20A09556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305300"/>
            <a:ext cx="1619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9C863D-5C8C-4A52-B656-5282C497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343400"/>
            <a:ext cx="1428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B</a:t>
            </a:r>
          </a:p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消费结果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3DE5EF-9061-43CB-BEDD-0B66A22A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05300"/>
            <a:ext cx="12001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E1670A-7909-49B3-81B0-5019AC5E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10096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44A20-6DBF-46EE-94B8-68A5A86F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47925" y="4667250"/>
            <a:ext cx="6762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760B7E-C2D3-4D4F-82E4-A543ECD5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57525" y="46196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27DA86-A655-4F7F-BC4D-5546ADDE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057525" y="46672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B69ABC-ED06-4569-82E3-CC61A8FC9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43450" y="4667250"/>
            <a:ext cx="6762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9FC23C-33A0-45FB-9F58-EA3C4D62A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53050" y="46196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707DF0-FEFB-4F7F-AFDD-7222A44E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353050" y="46672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712808-0190-4A07-AC41-7C5E5B6D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38975" y="4667250"/>
            <a:ext cx="6762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EE4E5E-0F03-4D32-AAEF-43172C8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648575" y="46196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7C05A3-D71B-4162-A65A-F7F07BBBD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648575" y="46672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F9615E-60C9-4D1B-B3ED-A03E3B30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77000" y="2952750"/>
            <a:ext cx="95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E1FDF4-C735-4F7F-95FA-27225EB0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29375" y="362902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2A0E5-546C-4F81-A4C3-D4DE97CD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477000" y="362902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BEBDC9-B84A-4FA2-BAF4-B1A6C0A0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33750"/>
            <a:ext cx="2143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预先配置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AD0FED-4AD9-41B5-B95A-6302AFC2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50545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共享缓冲与 activation 记录，eventfd 传递运行唤醒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1DCB19-4E27-4D1B-9F7A-CEA94C99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336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与 PreeAudio 对照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BA501C-88D6-49E3-9A2B-6BA0867C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686050"/>
            <a:ext cx="2238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PipeWire 围绕通用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媒体图分配控制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与实时执行职责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PreeAudio 围绕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Manager / Cluster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组织场景处理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两者都有处理图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差异在组织尺度</a:t>
            </a:r>
          </a:p>
          <a:p xmlns:a="http://schemas.openxmlformats.org/drawingml/2006/main">
            <a:pPr algn="l">
              <a:def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和执行职责分配</a:t>
            </a:r>
          </a:p>
        </p:txBody>
      </p:sp>
    </p:spTree>
    <p:extLst>
      <p:ext uri="{BB962C8B-B14F-4D97-AF65-F5344CB8AC3E}">
        <p14:creationId xmlns:p14="http://schemas.microsoft.com/office/powerpoint/2010/main" val="1305453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5C553-E354-42B0-BACB-5D013374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设计理念与软件架构的横向对比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DC2114-1CCA-4721-AE5F-0598B673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比较设计出发点、基本抽象、执行模型与动态控制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32EB1-80E3-4170-A2FE-47B18EAE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50E5DE-2482-4A3D-B4F5-5D4556991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PreeAudio 按既有分享的 HPAE 公开实现描述。时延、CPU、功耗及音质优劣需要同平台、同路径实测。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B9EEE9-33E2-4FF9-BB9C-7F60E191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1946C-CFB9-4562-8798-64A396842B79}"/>
              </a:ext>
            </a:extLst>
          </p:cNvPr>
          <p:cNvGraphicFramePr/>
          <p:nvPr/>
        </p:nvGraphicFramePr>
        <p:xfrm>
          <a:off xmlns:a="http://schemas.openxmlformats.org/drawingml/2006/main" x="609600" y="2105025"/>
          <a:ext xmlns:a="http://schemas.openxmlformats.org/drawingml/2006/main" cx="109728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57300"/>
                <a:gridCol w="2428875"/>
                <a:gridCol w="2428875"/>
                <a:gridCol w="2428875"/>
                <a:gridCol w="2428875"/>
              </a:tblGrid>
              <a:tr h="630238"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PulseAudio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JACK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PipeWire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PreeAudio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</a:tr>
              <a:tr h="630238"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设计重心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多流共享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动态设备管理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周期内协作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低延迟处理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通用媒体图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策略机制分离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场景化处理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系统状态协同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30238"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基本抽象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Stream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Sink / Source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Client / Port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处理回调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Node / Port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Link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Manager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Node / Cluster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30238"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按设备 I/O 线程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适配和汇合流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按依赖唤醒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JACK2 可并行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Driver 启动周期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数据线程执行图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消息处理后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驱动处理簇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30238"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动态控制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主循环与 I/O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通过消息协作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维护端口连接图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更新执行依赖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主线程配置图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会话层管理策略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Manager 管状态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上层策略协同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630238">
                <a:tc>
                  <a:txBody>
                    <a:bodyPr wrap="none"/>
                    <a:lstStyle/>
                    <a:p>
                      <a:pPr algn="l"/>
                      <a:r>
                        <a:rPr sz="172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架构取舍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缓冲、响应速度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设备时钟协调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周期预算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分支与关键路径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媒体图通用性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图与进程协调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场景处理复用</a:t>
                      </a:r>
                    </a:p>
                    <a:p>
                      <a:pPr algn="l"/>
                      <a:r>
                        <a:rPr sz="172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节点与状态管理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97612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1D939-C6A8-4E4A-9A6C-DCFB8CCC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素材参考：PulseAudio 的多级缓冲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BDDCE-FAC0-4B03-9C49-A134F4E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原图呈现客户端、传输、服务端与 ALSA 的缓冲边界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BB925-B641-4A01-82CB-58892797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F2568-CDCE-49FF-BA92-71691877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原图：Gavv，PulseAudio under the hood，Buffering（2017，面向 PA 11.1）。原图保留英文标签。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F49F5-586A-4C2E-8F6D-641D6527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6E545-B9CE-4341-9A16-217D1214D7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47a9da07c4f02"/>
          <a:stretch xmlns:a="http://schemas.openxmlformats.org/drawingml/2006/main"/>
        </p:blipFill>
        <p:spPr>
          <a:xfrm xmlns:a="http://schemas.openxmlformats.org/drawingml/2006/main">
            <a:off x="613814" y="2238375"/>
            <a:ext cx="10964372" cy="32670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BA45B-CF87-4100-9F05-758A845E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传输缓冲、流缓冲与设备缓冲处于不同边界，时延分析需要沿整条路径展开</a:t>
            </a:r>
          </a:p>
        </p:txBody>
      </p:sp>
    </p:spTree>
    <p:extLst>
      <p:ext uri="{BB962C8B-B14F-4D97-AF65-F5344CB8AC3E}">
        <p14:creationId xmlns:p14="http://schemas.microsoft.com/office/powerpoint/2010/main" val="13897789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B80483-4F39-40C0-BA6A-F317A0BA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JACK 附录：一个处理周期如何完成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FF06B-5C2E-421E-8632-19A61479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同步模式示例：数据依赖决定执行顺序，实时工作共享周期预算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1FEA3-D641-418D-B388-4B4A4E4B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5BC21-3277-456F-82A0-A4D77980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原图局部：Fons Adriaensen（2014），PDF 第 3 页。周期算例为教学假设，非实测端到端时延。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940FE-58A5-470F-9DBC-43744383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4E32ED-40BE-460C-B499-C358F5A4DC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b0919a3d44e82"/>
          <a:stretch xmlns:a="http://schemas.openxmlformats.org/drawingml/2006/main"/>
        </p:blipFill>
        <p:spPr>
          <a:xfrm xmlns:a="http://schemas.openxmlformats.org/drawingml/2006/main">
            <a:off x="609600" y="2205903"/>
            <a:ext cx="6477000" cy="220806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300C1-9E98-4CB2-8CB6-281AB312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52650"/>
            <a:ext cx="4000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实时回调承担一块计算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0B037-555E-4BFD-89EF-F032D09B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14625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输入端口缓冲</a:t>
            </a:r>
          </a:p>
          <a:p xmlns:a="http://schemas.openxmlformats.org/drawingml/2006/main">
            <a:pPr algn="l">
              <a:def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process(nframes)</a:t>
            </a:r>
          </a:p>
          <a:p xmlns:a="http://schemas.openxmlformats.org/drawingml/2006/main">
            <a:pPr algn="l">
              <a:def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输出端口缓冲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E7DA3D-5FE7-4D9D-9A25-2590991F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76700"/>
            <a:ext cx="4000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回调内避免阻塞操作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62537D-75CB-4E99-B0C7-45B8EACD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21957E-B723-4E99-B40E-E20A6423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采集数据就绪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F55A6-D95D-48E7-8725-5F040FEC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5067300"/>
            <a:ext cx="228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A427C-A575-4825-AB24-F8F75C1A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43275" y="5019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27B83-5758-4EA1-8547-5745923D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343275" y="50673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2CC8D4-A3B8-4A44-B794-FF0A23FE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772025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87B2A2-E2EB-4B3B-8B84-BDC1BBD2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101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激活可运行客户端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4DD12-55FD-4333-8824-740F20DB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81700" y="5067300"/>
            <a:ext cx="228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1F77B-9A4F-4893-A818-0A69EC0A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43625" y="5019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2569B8-4A30-4C64-8E2E-B2C9E14A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143625" y="50673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A5C0D3-475C-4C17-A6B8-BF98B6A2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72025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6A3AC8-9A75-44AE-835D-E7C54E6B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01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传播下游依赖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1BB1AC-99EA-4507-BDC6-69B7C4DD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82050" y="5067300"/>
            <a:ext cx="228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12B67-BF7E-43CD-8C72-5A8A25F4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43975" y="5019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6C2E45-511E-400A-B0A4-2C8A3088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943975" y="50673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4EB912-31AD-44AA-BD4F-B44E2836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772025"/>
            <a:ext cx="257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A8F265-CE96-4C5E-838B-E1E02984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8101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提交设备输出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993C85-1D46-420E-B68F-DDD7D88F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N = 128，fs = 48 kHz：名义周期约 2.67 ms，预算由整张图共同使用</a:t>
            </a:r>
          </a:p>
        </p:txBody>
      </p:sp>
    </p:spTree>
    <p:extLst>
      <p:ext uri="{BB962C8B-B14F-4D97-AF65-F5344CB8AC3E}">
        <p14:creationId xmlns:p14="http://schemas.microsoft.com/office/powerpoint/2010/main" val="8749025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44CFCF-3F89-4856-AE5D-3BA81FE6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JACK 附录：串行顺序与依赖驱动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7E7DD-5279-4892-8E66-2765D3D2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简化依赖图中，A 与 B 独立，C 等待 A、B，D 等待 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230D2D-19CE-47D9-9C3E-FC5D851F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CE8573-4AD0-48B5-AA7F-15E25B71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教学算例：A=2、B=3、C=2、D=1 个时间单位。忽略同步、缓存和调度开销，不是性能实测。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47DA3-22E4-4245-86B3-6F3C2236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DC533-2462-46E0-8855-EA822FC7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JACK1 经典模型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2941B9-074E-45B1-BA6C-8C38EC5F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1638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顺序执行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DA05D-F82D-4457-B0A6-9BF50795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384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F3D2F-6C65-48C1-8F1E-156DD52C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54AE83-CF39-4D05-BD78-E0EDAA96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623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48E9E-B2A3-4A32-83B1-41F0E50D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DCFDD-7041-404C-9F0F-B7FB46E6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8862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9AE10-9816-4718-9ED4-A5C9AD43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C1FC9-9510-45C0-A36D-1A92EB4C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101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E28BD5-98FD-48E8-B740-CFC0C33A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8879C9-2492-415B-841A-CDB5DB1C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5A26A6-D4B5-42AC-8776-A84D62AC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8C2120-21A8-4DE2-8AB3-DD807493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579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92778F-A479-4377-93C8-375D42DD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C81E2C-D073-46B3-B025-9C1ADAAE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818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C1C271-D7BC-4A3F-918F-3C524BA6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A9E505-979D-47D6-B996-267DC1A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5057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F2E11F-B053-4773-B76E-492E909F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CA24F9-9D24-44E1-8EF8-797FD86D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2590800"/>
            <a:ext cx="95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2528B9-18B0-4A02-8E06-6B8A436E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33625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AB269-4BDD-4101-8045-BDECC980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686050"/>
            <a:ext cx="1447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233E19-0461-40F5-B8C7-292CED22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24150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D2EA5F-14B4-4142-98C5-1DD50350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86050"/>
            <a:ext cx="2171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46DA3E-A0C5-4F91-87BD-009C7BBA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7241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16781D-4D56-470D-9D5C-70AD5B4E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86050"/>
            <a:ext cx="1447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2381DD-E46C-4DBB-9BC7-3A8A7F82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4F1495-CBA7-4C15-A7F3-50912DC8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86050"/>
            <a:ext cx="723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0A9767-1D42-4FF4-A722-0BFD48F8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24150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365576-DC4E-4355-AB81-6E4801D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JACK2 依赖驱动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9ACF82-48E5-4301-8FC9-91FFB6CD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638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工作核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F3E8F2-29F3-43EB-8593-0D8F778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16383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工作核 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9D46D6-AEE4-45E4-85A5-070185F9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38400" y="4324350"/>
            <a:ext cx="57912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2A5C61-5E6D-477A-96D3-E5BA2156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38400" y="4933950"/>
            <a:ext cx="57912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4262E9-F07C-4655-A49C-FC7B9A5B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24325"/>
            <a:ext cx="1447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87A40F-CED1-438E-B3A5-08CBAB5A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16242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8F457D-2D42-4CA0-9601-304D0EC04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33925"/>
            <a:ext cx="2171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348E4C-BB3E-44C9-BFFF-8A70019D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772025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B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D7F1E6-AA7B-4619-84B8-A622CA3E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24325"/>
            <a:ext cx="1447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3C4CA0-7F8B-4304-B730-ABB5F8B1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62425"/>
            <a:ext cx="125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C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CA0EDC-3FCC-49EE-AB22-72DC45BE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124325"/>
            <a:ext cx="723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A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7DECE0-7F92-43FF-98DF-2391E3A3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62425"/>
            <a:ext cx="53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61B5BB-9317-4C71-B75F-CA384781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143375"/>
            <a:ext cx="72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等待 B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F18145B-D84C-4FE3-9941-7BFD69E5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8 单位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5637AFB-1617-4AE2-8632-F05F9B11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8622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6 单位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0873240-B01F-48D6-9C03-ED890ED7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57725"/>
            <a:ext cx="2619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关键路径</a:t>
            </a:r>
          </a:p>
          <a:p xmlns:a="http://schemas.openxmlformats.org/drawingml/2006/main">
            <a:pPr algn="l">
              <a:defRPr sz="18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max(A,B)+C+D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0AD5E1A-566C-488B-B4AA-7BAD5248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图访问采用无锁技术，降低连接变化对实时执行的干扰</a:t>
            </a:r>
          </a:p>
        </p:txBody>
      </p:sp>
    </p:spTree>
    <p:extLst>
      <p:ext uri="{BB962C8B-B14F-4D97-AF65-F5344CB8AC3E}">
        <p14:creationId xmlns:p14="http://schemas.microsoft.com/office/powerpoint/2010/main" val="11771881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038764-3AFC-4B58-BBD7-44B61F6A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JACK 附录：同步与异步的交付取舍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FE93BC-F22B-4970-A339-25C09EAF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并行度描述周期内怎样执行，同步方式描述何时交付计算结果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D68FD-E7E7-47F8-B20A-8EAF0416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19472-E769-472F-A713-D0CC1E2F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依据 JACK2 README 和作者论文。异步模式增加一个处理周期的流水线延迟，不等于端到端总时延。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EE014-DF09-48F3-8C5B-C3D53095B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F12837-B8CF-4143-BEF9-5A788476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00275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周期 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33F3A8-E521-466B-80C7-D1F22615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00275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周期 n+1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91083-F285-47A7-9401-2BDB459B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0275"/>
            <a:ext cx="2457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周期 n+2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4F638-8010-4B75-AF0A-C4E77844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同步模式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86DA7-CBBC-4B53-8D32-2ED03822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21431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等待当期图完成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E5C36-4354-4216-B00B-B8D00242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43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异步模式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CFE05-DF75-43FC-B011-985FFE8A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2257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使用前一周期结果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7EFCA-03FB-4670-B8F7-7DE860DD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71775"/>
            <a:ext cx="2457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B2691-00E7-4405-BF8F-60B0AF8B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9875"/>
            <a:ext cx="2266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计算 n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写出 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96B64-3C05-45AB-8739-50D77167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67200"/>
            <a:ext cx="2457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D17242-8D71-4E67-8980-C68DB23A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05300"/>
            <a:ext cx="2266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计算 n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写出 n−1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2067C-75E8-4453-A6DD-E6D2460D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10200" y="3200400"/>
            <a:ext cx="304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5835BA-A674-47B8-AAD2-51A13E8B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648325" y="31527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CD649-2840-49AE-9D7C-75120135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648325" y="32004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5ADB6C-C4FC-4BB9-8275-478ADAF0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10200" y="4695825"/>
            <a:ext cx="304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09079B-39B7-4D7E-8BB0-5BB5A582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648325" y="46482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C9E29E-5580-4AD9-B13D-C8329A38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648325" y="46958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D772A2-3764-4A10-A837-9CB59296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71775"/>
            <a:ext cx="2457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5C827A-1F51-4F27-9837-A5D8B554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09875"/>
            <a:ext cx="2266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计算 n+1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写出 n+1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E52E4A-FC37-487C-9975-4D750FA0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67200"/>
            <a:ext cx="2457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FED102-6DCB-4BD7-941E-43788432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305300"/>
            <a:ext cx="2266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计算 n+1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写出 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76E94E-6AEB-493F-BF0C-669DA51F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72450" y="3200400"/>
            <a:ext cx="304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F020E1-22D2-4D31-936C-A9F335E7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10575" y="31527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616E8B-E912-47BA-8B7A-A80AFB21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410575" y="32004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52920A-CAF1-4773-AEF6-C249B195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172450" y="4695825"/>
            <a:ext cx="304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BEDC76-B6FF-436C-BC3C-109B5C55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410575" y="46482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6C0853-B6F8-47DE-B99A-878C833B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410575" y="46958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C66BEE-84FB-4E1F-9634-0F700222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71775"/>
            <a:ext cx="2457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108602-F4D0-42C7-B5AE-28521832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9875"/>
            <a:ext cx="2266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计算 n+2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写出 n+2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F6676-1372-404D-8624-00AE533D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67200"/>
            <a:ext cx="24574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5BFB71-23A5-4313-B4D6-B77431B9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05300"/>
            <a:ext cx="2266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计算 n+2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写出 n+1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321C0F-B5B8-4B65-813F-83E5057D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同步：当前结果直接参与交付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43F5A8-1676-4A00-B24A-C4E31F79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38800"/>
            <a:ext cx="5400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异步：以一个周期等待换取交付解耦</a:t>
            </a:r>
          </a:p>
        </p:txBody>
      </p:sp>
    </p:spTree>
    <p:extLst>
      <p:ext uri="{BB962C8B-B14F-4D97-AF65-F5344CB8AC3E}">
        <p14:creationId xmlns:p14="http://schemas.microsoft.com/office/powerpoint/2010/main" val="18824135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434D17-67F6-4625-A4CF-9AA80448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PipeWire 附录：会话策略如何改变运行图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64E0DC-6049-46BB-9DA8-75A2DBF4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设备和用户偏好变化先转成对象配置与连接决策，再由实时图执行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3F024B-B0D3-43A0-9018-D25FAA93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8787D-EA52-4817-87D4-2A7EB6C7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依据 WirePlumber 官方会话管理说明。图示为职责关系，不承诺设备切换无中断或所有模块的固定调用顺序。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C4D96-6FA6-4BF7-BDC3-18ACDF50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95306-8AC6-44CB-A12F-BD0CC9F1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事件与策略层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31033-9F21-4F40-8A1A-3901E32C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F7920-071C-443B-8539-6EEB9AED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289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设备 / 偏好变化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A367A3-715C-46F5-A8EF-B5C5AC76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81350" y="3114675"/>
            <a:ext cx="228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562B39-8439-4D29-99D9-68E8BC33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43275" y="30670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C870D-C739-451F-B33B-1E15A6A2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343275" y="3114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81552-FAD4-46C9-8837-D2A0895D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90825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4292A2-A49B-409E-A513-2D1F174F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289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选择配置与目标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129CB-9E36-408F-B48E-9C52556A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81700" y="3114675"/>
            <a:ext cx="228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70B88-358F-4C9D-864D-47E744A0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143625" y="30670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78DBF-1ADD-4F2D-ABD3-9EEFA712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143625" y="3114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0C3D5-0B44-44FC-A194-B19E8269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90825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F6812F-8DE3-49B8-B30A-8186A37B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289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配置节点与端口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14C422-1FD7-4C78-A4F5-1EB2F385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82050" y="3114675"/>
            <a:ext cx="228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410FB-F68E-4972-9AB7-3D126131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43975" y="30670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454A23-EA17-43A3-A767-D772B864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943975" y="31146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F87D83-F865-49B6-A801-48C62631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90825"/>
            <a:ext cx="2571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1DB5AF-14CF-438A-B26C-D6C91E5F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289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创建或调整连接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D441CA-0196-48B0-8BF6-52107029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WirePlumber 持续监视事件，并维护设备、节点、连接与元数据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F8824C-2695-491E-AF71-6E1AB289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287000" y="3438525"/>
            <a:ext cx="95" cy="990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8CC6B5-A1A5-4984-BDE7-02AE8C96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239375" y="4362450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C9392E-9BCE-405F-8C89-8A5BD713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0287000" y="4362450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37C1B4-8977-40EC-BF16-4B18EA17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10025"/>
            <a:ext cx="304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准备图和运行资源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156640-324D-4C76-9FAB-DC0388E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4D0771-DFAD-4F57-82BF-D3BA4BF1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86275"/>
            <a:ext cx="10706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实时执行层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F62E72-0D9B-46F1-9953-C5AB4C0A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1490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DA16B7-EE9A-415C-AE68-660022EB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953000"/>
            <a:ext cx="2286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流节点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C9C575-1588-45F4-AC90-CBB3E114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91490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2CD8448-9CF4-4596-BCD5-5B78B8257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53000"/>
            <a:ext cx="2286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处理节点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A27A29-2FEB-4B32-8DA1-2EB9027C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14900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16C789-05BD-4975-8D07-7C9EA2D3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953000"/>
            <a:ext cx="2286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设备节点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85ECE6-162E-4C6B-849C-F6B39F56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24225" y="5133975"/>
            <a:ext cx="12763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592FDE-ED11-4ADB-9E06-22B99CBB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33900" y="50863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BC0C27-4E8A-4CAB-AF9D-1D376735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33900" y="51339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3F2924-4201-4214-A061-3AD61CC8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77075" y="5133975"/>
            <a:ext cx="17335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F6E8C7-6C42-4129-8ECF-DE8F7945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43950" y="50863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0090505-41D6-4FB9-9530-D5F4D726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743950" y="51339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E51042C-2367-4974-ADB6-5408969D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架构重点：策略决定图如何组织，实时层按准备好的资源持续处理数据</a:t>
            </a:r>
          </a:p>
        </p:txBody>
      </p:sp>
    </p:spTree>
    <p:extLst>
      <p:ext uri="{BB962C8B-B14F-4D97-AF65-F5344CB8AC3E}">
        <p14:creationId xmlns:p14="http://schemas.microsoft.com/office/powerpoint/2010/main" val="15202180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52018C-F976-438C-BFA3-8AAE0753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PipeWire 附录：依赖计数决定节点何时运行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FAD92-22E0-45BA-BCE3-C3E776D7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Driver 发起周期，节点等待上游完成，再把运行条件传递给下游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DDA51-A401-4261-A008-5ADFA219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90537-5761-4DFF-A2B3-DD1CE3BC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仅展开同步图。pending 数字表示 Driver 已发起周期后仍未满足的上游依赖，省略 Driver 自身计数与反馈连接。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29F14-C09D-42F8-BAE4-DF0EB0BE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AABD0-3610-4B93-B54F-87D265F9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219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515E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FE6BD-915D-49C4-BB02-EEE7E44F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19425"/>
            <a:ext cx="200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Driver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启动本周期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BC24E-47D3-45AC-B4CB-938654A6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38375"/>
            <a:ext cx="24574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D2CA8-D9B0-4AE1-B1A2-450776D0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276475"/>
            <a:ext cx="2266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A</a:t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上游依赖就绪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A62130-EB86-476A-B900-EB107CD9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71900"/>
            <a:ext cx="2457450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E6C1C-23E0-4EE7-8EEF-87F9E670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810000"/>
            <a:ext cx="22669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B</a:t>
            </a:r>
          </a:p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上游依赖就绪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997511-FD9B-453F-ADAA-CF2F3076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00375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643DB-491E-4ABE-BE5B-01B846CA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38475"/>
            <a:ext cx="295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C</a:t>
            </a:r>
          </a:p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等待 A 与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8E2175-9467-4B2A-B16A-65D8FA7B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00350" y="3438525"/>
            <a:ext cx="3429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92B839-CAA2-43D7-8683-CE2D51E4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43250" y="2638425"/>
            <a:ext cx="95" cy="1533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FDBFB2-4A7C-47EF-A54F-E3128C24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43250" y="2638425"/>
            <a:ext cx="4572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69F17C-BBA1-4780-876C-0590A222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33775" y="25908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04BFFD-9A9A-4B4D-B0E9-D73225C8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33775" y="26384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B9F589-95E0-4945-8A79-8E48DB01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43250" y="4171950"/>
            <a:ext cx="4572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4FA680-88AF-4B66-9653-05C305F2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533775" y="41243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3CD864-562B-4F91-9424-0005608B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33775" y="41719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4AC9A9-1CB3-45E9-AB56-6B9B8998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57900" y="2638425"/>
            <a:ext cx="952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12F5BB-D176-480E-8F85-EF9D511C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10400" y="2638425"/>
            <a:ext cx="95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12A215-2356-4243-A0BE-B564AADF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57900" y="4171950"/>
            <a:ext cx="952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0ECF8-F3C3-4B38-A2E5-B46CA9E7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10400" y="3438525"/>
            <a:ext cx="95" cy="733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6E9F3D-412F-402A-B1DA-F900BE21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10400" y="3438525"/>
            <a:ext cx="9715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97271F-CDA5-4F3C-BC35-3F717DF2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15275" y="33909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199951-B38B-4F14-95A1-B875D782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915275" y="34385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94C895-4BBE-42EF-BFD0-32F7B6CF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62175"/>
            <a:ext cx="4714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完成后传播就绪条件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6A7426-3DA2-41CD-9E0D-D6C93FD3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6515E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46515E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46515E"/>
                </a:solidFill>
                <a:latin typeface="Hiragino Sans GB"/>
                <a:ea typeface="Hiragino Sans GB"/>
                <a:cs typeface="Hiragino Sans GB"/>
              </a:rPr>
              <a:t>pending =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79BDBB-7D6C-4653-A004-4444B0B1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A、B 均未完成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9B486C-AAE7-4B97-9774-974145D1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71900" y="5257800"/>
            <a:ext cx="4667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515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8C45D6-1137-4784-A8AA-7E7758EF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71950" y="52101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515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AC74C8-DEFA-4BCE-8BAC-CB98D24D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71950" y="52578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515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A4ED99-0A38-4D0F-8D5C-69AA0D22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4825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pending =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460904-D9DB-4A5C-B50C-F80A99DD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6260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A 完成，仍等 B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5ADED4-E233-498D-AC57-7A151E8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505700" y="5257800"/>
            <a:ext cx="4667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02F048-144C-4308-8E83-2E80206A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905750" y="52101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8AA7519-AA19-438B-927E-ECE6E6E6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905750" y="525780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703B98-8248-4ACC-89EE-77D15AAD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4825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pending = 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7FC673-1EAA-48CA-95DF-5FF22033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56260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B 也完成，C 可运行</a:t>
            </a:r>
          </a:p>
        </p:txBody>
      </p:sp>
    </p:spTree>
    <p:extLst>
      <p:ext uri="{BB962C8B-B14F-4D97-AF65-F5344CB8AC3E}">
        <p14:creationId xmlns:p14="http://schemas.microsoft.com/office/powerpoint/2010/main" val="19664434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EAF7EB-6C99-4B06-A37E-51CD228C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PipeWire 附录：跨进程的数据与唤醒协作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1667A-64BD-4F44-A9D5-1D6DD855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对象配置走控制通信，媒体计算共享缓冲，节点完成后可直接触发后继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2212E-AEA1-473F-9A48-7039A4A2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3611-F44E-4AE2-BE1B-56D340D1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图为同机跨进程处理的简化模型。共享内存降低传输复制，格式转换、混音及设备路径仍可能需要复制。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21DBAF-22E6-4BF9-A27D-6BFBD7A05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D0D62-B40F-43EB-833B-E640C9B8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789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B76793-BDDB-4B07-9631-84EF7D81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0782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PipeWire 主线程：配置对象、连接与共享资源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2A394-5548-4EE5-871B-94B87738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27622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E08EA-0710-483C-9163-3CF1C293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71875"/>
            <a:ext cx="2495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进程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A1EAE-1B7A-4204-848E-95D12A25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90975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78F6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3BCBE8-99BA-4AC3-9E47-4AA7313B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29075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A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实时处理线程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D4DC5-3F6C-40FE-9C66-B265CA67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24250"/>
            <a:ext cx="27622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CD7E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509978-6839-45BF-99CF-82A85C6C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71875"/>
            <a:ext cx="2495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进程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0DFBE3-3B07-446A-9309-B31A9AEC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90975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5A1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D1EC1F-70EF-4F8E-8786-1D1DA733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29075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节点 B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实时处理线程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DDB25B-141E-4D61-9545-BDE7DBEB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86150"/>
            <a:ext cx="3848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FFD"/>
          </a:solidFill>
          <a:ln xmlns:a="http://schemas.openxmlformats.org/drawingml/2006/main" w="11430">
            <a:solidFill>
              <a:srgbClr val="3478F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F39AC9-0D8D-4C63-B333-2E810221D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590925"/>
            <a:ext cx="3448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共享资源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F29829-36B8-4198-AFA9-D180DDB3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05275"/>
            <a:ext cx="34480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媒体缓冲 / I/O 区</a:t>
            </a:r>
          </a:p>
          <a:p xmlns:a="http://schemas.openxmlformats.org/drawingml/2006/main">
            <a:pPr algn="ctr">
              <a:def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activation 依赖与状态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272118-FEA0-41CE-B35F-E1D2C1B3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90725" y="2724150"/>
            <a:ext cx="95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677737-E7A4-4CB7-B679-4FE401DF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43100" y="345757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5AA3AD-C887-474F-B41E-10D77CFA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990725" y="345757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729DAC-F339-4C64-8271-2C2EF1BC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201275" y="2724150"/>
            <a:ext cx="95" cy="800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dash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A2C7F5-A92B-4205-8844-E345F593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53650" y="345757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DA362F-9DD1-4A32-8DEE-039FD71E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10201275" y="3457575"/>
            <a:ext cx="47625" cy="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778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FAB7B5-6BCD-46D7-AEC5-CF58119D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2962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IPC / 配置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EC51C7-A715-4E77-A2CA-B5CE3B14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62275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IPC / 配置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6F3DCB-4DE4-480A-9DBA-F97CA9CF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371850" y="4410075"/>
            <a:ext cx="8001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3EB720-2634-4ADA-BEDC-26E7B741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05275" y="43624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7CBF49-A928-431C-B839-D947DDA3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05275" y="44100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78F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FFF5C4-E9AD-47C0-AE76-F2C7682D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020050" y="4410075"/>
            <a:ext cx="8001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B5FC2B-8B1C-4A63-9102-A27CFFB9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53475" y="43624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1DA49D-9DB4-469E-A0F8-118E9B1E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753475" y="441007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F027FB-6DE8-447E-AD7B-EA153463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90725" y="5467350"/>
            <a:ext cx="82105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2B962E-6B2B-4D32-AC23-A6E76B79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0134600" y="5419725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279794-FCBE-4FC0-BFD1-1F8D855A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0134600" y="5467350"/>
            <a:ext cx="6667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0A5A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075D17-F67C-4337-8941-73B6E9D9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581650"/>
            <a:ext cx="72675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ctr">
              <a:def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eventfd：完成后唤醒后继，通知与样本数据分开</a:t>
            </a:r>
          </a:p>
        </p:txBody>
      </p:sp>
    </p:spTree>
    <p:extLst>
      <p:ext uri="{BB962C8B-B14F-4D97-AF65-F5344CB8AC3E}">
        <p14:creationId xmlns:p14="http://schemas.microsoft.com/office/powerpoint/2010/main" val="17682994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E57D73-0B40-4467-9267-C56C0CA6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PipeWire 附录：异步 Link 的周期隔离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A24C5-3737-47B9-9F49-83698C34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异步节点与同步依赖链解耦，双槽缓冲隔开本周期的读写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EB8A7-C2FA-4B5B-94C7-4B41AEEE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D7F1A-D96B-4928-813D-BBB09C57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一般异步 Link 的稳态示意，周期 0 前已有数据。每条异步 Link 增加一个图周期，Driver 输出等特殊分支未展开。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F7110-7D52-42B7-94E1-051280FC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985F2-E562-4C1E-A1BB-30D63A444586}"/>
              </a:ext>
            </a:extLst>
          </p:cNvPr>
          <p:cNvGraphicFramePr/>
          <p:nvPr/>
        </p:nvGraphicFramePr>
        <p:xfrm>
          <a:off xmlns:a="http://schemas.openxmlformats.org/drawingml/2006/main" x="609600" y="2257425"/>
          <a:ext xmlns:a="http://schemas.openxmlformats.org/drawingml/2006/main" cx="109728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57400"/>
                <a:gridCol w="2971800"/>
                <a:gridCol w="2971800"/>
                <a:gridCol w="2971800"/>
              </a:tblGrid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运行位置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周期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周期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周期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T w="9525">
                      <a:solidFill>
                        <a:srgbClr val="CCD7E3"/>
                      </a:solidFill>
                      <a:prstDash val="solid"/>
                    </a:lnT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10243A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生产节点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写槽 1：数据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写槽 0：数据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写槽 1：数据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  <a:tr h="714375">
                <a:tc>
                  <a:txBody>
                    <a:bodyPr wrap="none"/>
                    <a:lstStyle/>
                    <a:p>
                      <a:pPr algn="l"/>
                      <a:r>
                        <a:rPr sz="1875" b="1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消费节点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7E3"/>
                      </a:solidFill>
                      <a:prstDash val="solid"/>
                    </a:lnL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读槽 0：旧数据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读槽 1：数据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75" b="0">
                          <a:solidFill>
                            <a:srgbClr val="10243A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读槽 0：数据 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7E3"/>
                      </a:solidFill>
                      <a:prstDash val="solid"/>
                    </a:lnR>
                    <a:lnB w="9525">
                      <a:solidFill>
                        <a:srgbClr val="CCD7E3"/>
                      </a:solidFill>
                      <a:prstDash val="solid"/>
                    </a:lnB>
                    <a:solidFill>
                      <a:srgbClr val="E7EFF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C173E-929B-4FD9-96A9-D8E42AE4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3478F6"/>
                </a:solidFill>
                <a:latin typeface="Hiragino Sans GB"/>
                <a:ea typeface="Hiragino Sans GB"/>
                <a:cs typeface="Hiragino Sans GB"/>
              </a:rPr>
              <a:t>获得的自由度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80D520-9531-4646-B1B8-D151FFF2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5238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异步节点与同步图的完成依赖解耦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4BC2F-DEAF-405F-82DC-D66BDB3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339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0A5A1"/>
                </a:solidFill>
                <a:latin typeface="Hiragino Sans GB"/>
                <a:ea typeface="Hiragino Sans GB"/>
                <a:cs typeface="Hiragino Sans GB"/>
              </a:rPr>
              <a:t>付出的代价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32695-ECF0-4152-8D44-41B7B64D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38750"/>
            <a:ext cx="50101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每条异步 Link 多一个图周期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41799-A62D-406C-8052-0A57DEEF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87789A"/>
                </a:solidFill>
                <a:latin typeface="Hiragino Sans GB"/>
                <a:ea typeface="Hiragino Sans GB"/>
                <a:cs typeface="Hiragino Sans GB"/>
              </a:rPr>
              <a:t>JACK2 的服务器级激活与 PipeWire 的节点 / Link 级异步，作用范围不同</a:t>
            </a:r>
          </a:p>
        </p:txBody>
      </p:sp>
    </p:spTree>
    <p:extLst>
      <p:ext uri="{BB962C8B-B14F-4D97-AF65-F5344CB8AC3E}">
        <p14:creationId xmlns:p14="http://schemas.microsoft.com/office/powerpoint/2010/main" val="528461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BAD87E-648F-4761-8490-80D0FA13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0243A"/>
                </a:solidFill>
                <a:latin typeface="Hiragino Sans GB"/>
                <a:ea typeface="Hiragino Sans GB"/>
                <a:cs typeface="Hiragino Sans GB"/>
              </a:rPr>
              <a:t>素材参考：PipeWire 作者的整体架构图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8E6855-9079-4C7D-B1B0-D0961F8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52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Wim Taymans，FOSDEM 2024，Overview 原图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1B54D-7CD7-4506-8202-4F79BB45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" y="1809750"/>
            <a:ext cx="109728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CD7E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4A246-236F-42E5-99EA-8DBE6039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来源：FOSDEM 2024，PipeWire State of the Union，PDF 第 3 页。此页保留原图，适合作为放大查阅的备份素材。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2581A-29CA-4D14-9930-0E16725B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62865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17389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C79AF-46D6-4378-AC59-D977764E9C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0e9d87e404b0b"/>
          <a:stretch xmlns:a="http://schemas.openxmlformats.org/drawingml/2006/main"/>
        </p:blipFill>
        <p:spPr>
          <a:xfrm xmlns:a="http://schemas.openxmlformats.org/drawingml/2006/main">
            <a:off x="3276600" y="1952625"/>
            <a:ext cx="5638800" cy="4229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419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2026-10-22T02:35:45.7010000Z</dcterms:created>
  <dcterms:modified xsi:type="dcterms:W3CDTF">2026-10-22T02:35:45.7010000Z</dcterms:modified>
</coreProperties>
</file>
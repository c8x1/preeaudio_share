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c58b3fedb45a9" /><Relationship Type="http://schemas.openxmlformats.org/officeDocument/2006/relationships/extended-properties" Target="/docProps/app.xml" Id="Rec83b23832a64b07" /><Relationship Type="http://schemas.openxmlformats.org/officeDocument/2006/relationships/officeDocument" Target="/ppt/presentation.xml" Id="R6cd9b9dc3f0348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42de77e304a4a"/>
  </p:sldMasterIdLst>
  <p:notesMasterIdLst>
    <p:notesMasterId xmlns:r="http://schemas.openxmlformats.org/officeDocument/2006/relationships" r:id="Re0e1f3c2cedb4223"/>
  </p:notesMasterIdLst>
  <p:sldIdLst>
    <p:sldId xmlns:r="http://schemas.openxmlformats.org/officeDocument/2006/relationships" id="256" r:id="R174d3c0a330e4d00"/>
    <p:sldId xmlns:r="http://schemas.openxmlformats.org/officeDocument/2006/relationships" id="257" r:id="R49134c2b39384e65"/>
    <p:sldId xmlns:r="http://schemas.openxmlformats.org/officeDocument/2006/relationships" id="258" r:id="Rf5825b9a906445b8"/>
    <p:sldId xmlns:r="http://schemas.openxmlformats.org/officeDocument/2006/relationships" id="259" r:id="R926728679f964e95"/>
    <p:sldId xmlns:r="http://schemas.openxmlformats.org/officeDocument/2006/relationships" id="260" r:id="R0ebcfe66a84b4228"/>
    <p:sldId xmlns:r="http://schemas.openxmlformats.org/officeDocument/2006/relationships" id="261" r:id="R8d63f5fbf1a640d4"/>
    <p:sldId xmlns:r="http://schemas.openxmlformats.org/officeDocument/2006/relationships" id="262" r:id="Ra9d0f72eac3642c3"/>
    <p:sldId xmlns:r="http://schemas.openxmlformats.org/officeDocument/2006/relationships" id="263" r:id="R010eb5b1c55d4594"/>
    <p:sldId xmlns:r="http://schemas.openxmlformats.org/officeDocument/2006/relationships" id="264" r:id="R206c53f99be840f5"/>
    <p:sldId xmlns:r="http://schemas.openxmlformats.org/officeDocument/2006/relationships" id="265" r:id="R554c693bdfb143f8"/>
    <p:sldId xmlns:r="http://schemas.openxmlformats.org/officeDocument/2006/relationships" id="266" r:id="R0edf22404e274842"/>
    <p:sldId xmlns:r="http://schemas.openxmlformats.org/officeDocument/2006/relationships" id="267" r:id="R73de18cf88c04728"/>
    <p:sldId xmlns:r="http://schemas.openxmlformats.org/officeDocument/2006/relationships" id="268" r:id="Rd8b35097cc744747"/>
    <p:sldId xmlns:r="http://schemas.openxmlformats.org/officeDocument/2006/relationships" id="269" r:id="R75d2d9d51ade44bd"/>
    <p:sldId xmlns:r="http://schemas.openxmlformats.org/officeDocument/2006/relationships" id="270" r:id="R8264016804274f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20d1244f940b3" /><Relationship Type="http://schemas.openxmlformats.org/officeDocument/2006/relationships/slideMaster" Target="/ppt/slideMasters/slideMaster1.xml" Id="R29a42de77e304a4a" /><Relationship Type="http://schemas.openxmlformats.org/officeDocument/2006/relationships/notesMaster" Target="/ppt/notesMasters/notesMaster1.xml" Id="Re0e1f3c2cedb4223" /><Relationship Type="http://schemas.openxmlformats.org/officeDocument/2006/relationships/presProps" Target="/ppt/presProps.xml" Id="R036f20d4c14646cd" /><Relationship Type="http://schemas.openxmlformats.org/officeDocument/2006/relationships/tableStyles" Target="/ppt/tableStyles.xml" Id="Rcfbd46b1f93d4ffa" /><Relationship Type="http://schemas.openxmlformats.org/officeDocument/2006/relationships/slide" Target="/ppt/slides/slide1.xml" Id="R174d3c0a330e4d00" /><Relationship Type="http://schemas.openxmlformats.org/officeDocument/2006/relationships/slide" Target="/ppt/slides/slide2.xml" Id="R49134c2b39384e65" /><Relationship Type="http://schemas.openxmlformats.org/officeDocument/2006/relationships/slide" Target="/ppt/slides/slide3.xml" Id="Rf5825b9a906445b8" /><Relationship Type="http://schemas.openxmlformats.org/officeDocument/2006/relationships/slide" Target="/ppt/slides/slide4.xml" Id="R926728679f964e95" /><Relationship Type="http://schemas.openxmlformats.org/officeDocument/2006/relationships/slide" Target="/ppt/slides/slide5.xml" Id="R0ebcfe66a84b4228" /><Relationship Type="http://schemas.openxmlformats.org/officeDocument/2006/relationships/slide" Target="/ppt/slides/slide6.xml" Id="R8d63f5fbf1a640d4" /><Relationship Type="http://schemas.openxmlformats.org/officeDocument/2006/relationships/slide" Target="/ppt/slides/slide7.xml" Id="Ra9d0f72eac3642c3" /><Relationship Type="http://schemas.openxmlformats.org/officeDocument/2006/relationships/slide" Target="/ppt/slides/slide8.xml" Id="R010eb5b1c55d4594" /><Relationship Type="http://schemas.openxmlformats.org/officeDocument/2006/relationships/slide" Target="/ppt/slides/slide9.xml" Id="R206c53f99be840f5" /><Relationship Type="http://schemas.openxmlformats.org/officeDocument/2006/relationships/slide" Target="/ppt/slides/slide10.xml" Id="R554c693bdfb143f8" /><Relationship Type="http://schemas.openxmlformats.org/officeDocument/2006/relationships/slide" Target="/ppt/slides/slide11.xml" Id="R0edf22404e274842" /><Relationship Type="http://schemas.openxmlformats.org/officeDocument/2006/relationships/slide" Target="/ppt/slides/slide12.xml" Id="R73de18cf88c04728" /><Relationship Type="http://schemas.openxmlformats.org/officeDocument/2006/relationships/slide" Target="/ppt/slides/slide13.xml" Id="Rd8b35097cc744747" /><Relationship Type="http://schemas.openxmlformats.org/officeDocument/2006/relationships/slide" Target="/ppt/slides/slide14.xml" Id="R75d2d9d51ade44bd" /><Relationship Type="http://schemas.openxmlformats.org/officeDocument/2006/relationships/slide" Target="/ppt/slides/slide15.xml" Id="R8264016804274f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cee0d9869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1632f9d194277" /><Relationship Type="http://schemas.openxmlformats.org/officeDocument/2006/relationships/notesMaster" Target="/ppt/notesMasters/notesMaster1.xml" Id="Rfb9450ec1e3040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6d39c445304d50" /><Relationship Type="http://schemas.openxmlformats.org/officeDocument/2006/relationships/notesMaster" Target="/ppt/notesMasters/notesMaster1.xml" Id="R2ef9c73cf93144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04118a3f0647c1" /><Relationship Type="http://schemas.openxmlformats.org/officeDocument/2006/relationships/notesMaster" Target="/ppt/notesMasters/notesMaster1.xml" Id="R31ceda1c20e648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23eeb2e1764778" /><Relationship Type="http://schemas.openxmlformats.org/officeDocument/2006/relationships/notesMaster" Target="/ppt/notesMasters/notesMaster1.xml" Id="R3101f90d4765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de23760d884e60" /><Relationship Type="http://schemas.openxmlformats.org/officeDocument/2006/relationships/notesMaster" Target="/ppt/notesMasters/notesMaster1.xml" Id="R9cabe5e10c0f41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cbb5f8e6084797" /><Relationship Type="http://schemas.openxmlformats.org/officeDocument/2006/relationships/notesMaster" Target="/ppt/notesMasters/notesMaster1.xml" Id="Rad52d3c8c60d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d0ce34aab4257" /><Relationship Type="http://schemas.openxmlformats.org/officeDocument/2006/relationships/notesMaster" Target="/ppt/notesMasters/notesMaster1.xml" Id="R4acb2d947231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dec6fc9944898" /><Relationship Type="http://schemas.openxmlformats.org/officeDocument/2006/relationships/notesMaster" Target="/ppt/notesMasters/notesMaster1.xml" Id="R5247654f51a1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3ccc4695ff4b3b" /><Relationship Type="http://schemas.openxmlformats.org/officeDocument/2006/relationships/notesMaster" Target="/ppt/notesMasters/notesMaster1.xml" Id="R571d279b6a0c45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482cce4d6f4c4f" /><Relationship Type="http://schemas.openxmlformats.org/officeDocument/2006/relationships/notesMaster" Target="/ppt/notesMasters/notesMaster1.xml" Id="R7d83577ea92147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a00bf772864ede" /><Relationship Type="http://schemas.openxmlformats.org/officeDocument/2006/relationships/notesMaster" Target="/ppt/notesMasters/notesMaster1.xml" Id="Rbef95edb772e4f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d191cc1bb842d9" /><Relationship Type="http://schemas.openxmlformats.org/officeDocument/2006/relationships/notesMaster" Target="/ppt/notesMasters/notesMaster1.xml" Id="Refb05b0d35da41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f6ea57b3a14607" /><Relationship Type="http://schemas.openxmlformats.org/officeDocument/2006/relationships/notesMaster" Target="/ppt/notesMasters/notesMaster1.xml" Id="R53ff9465b1bd48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920de3fcab4a1d" /><Relationship Type="http://schemas.openxmlformats.org/officeDocument/2006/relationships/notesMaster" Target="/ppt/notesMasters/notesMaster1.xml" Id="R130c1cdc724d4a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3762a996e040cd" /><Relationship Type="http://schemas.openxmlformats.org/officeDocument/2006/relationships/notesMaster" Target="/ppt/notesMasters/notesMaster1.xml" Id="R0f79fb48a4ee41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在看 PreeAudio 之前，我们先把时间拉长一点，看看操作系统里的声音处理是怎么发展起来的。这里主要沿着 Linux 和 POSIX 系统这条路线看，关注的是软件怎样组织工作。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最左边的 OSS，全称是 Open Sound System，中文可以叫开放声音系统。它提供一套录音和播放接口。早期常见的用法，是应用打开像 /dev/dsp 这样的设备入口，再通过读写操作交换音频数据。这里写进去的一般是准备好的数字音频样本，不能把一个 MP3 文件原样写进去，就期待设备自动完成所有解码。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ALSA，全称是 Advanced Linux Sound Architecture，也就是高级 Linux 声音架构。它既包括内核里的音频驱动体系，也有应用使用的库。不同声卡怎么访问、缓冲区怎么管理，这些底层问题有了更统一的组织方式。不过，多应用的音量、路由和交互规则，仍然需要上层协调。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到了用户态音频服务这一阶段，需求开始分成不同侧重。桌面上，我们希望浏览器、播放器和通知音能共用设备，还能分别调音量，PulseAudio 就很关注这些问题。音乐制作里，我们更在意多个处理程序能不能按统一节奏合作，JACK 把同步处理和低延迟放在了很核心的位置。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再往右是 PipeWire。它把音频、视频等媒体处理统一放进节点和连接组成的图中，同时考虑桌面和专业音频需求。PreeAudio 则放在当代终端音频框架这条线上，重点看鸿蒙框架内部怎样组织节点、处理簇和运行状态。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这张图里的演进，是系统承担的职责逐渐丰富。今天的 PipeWire 在 Linux 上仍然可以通过 ALSA 使用硬件。带着这层关系，我们再看下一页：这些需求到底让软件架构发生了哪些变化。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https://www.kernel.org/doc/html/latest/sound/index.html</a:t>
            </a:r>
          </a:p>
          <a:p xmlns:a="http://schemas.openxmlformats.org/drawingml/2006/main">
            <a:r>
              <a:t>https://docs.kernel.org/sound/alsa-configuration.html</a:t>
            </a:r>
          </a:p>
          <a:p xmlns:a="http://schemas.openxmlformats.org/drawingml/2006/main">
            <a:r>
              <a:t>https://0pointer.de/blog/projects/pulse-release.html</a:t>
            </a:r>
          </a:p>
          <a:p xmlns:a="http://schemas.openxmlformats.org/drawingml/2006/main">
            <a:r>
              <a:t>https://jackaudio.org/api/index.html</a:t>
            </a:r>
          </a:p>
          <a:p xmlns:a="http://schemas.openxmlformats.org/drawingml/2006/main">
            <a:r>
              <a:t>https://blogs.gnome.org/uraeus/2017/09/19/launching-pipewire/</a:t>
            </a:r>
          </a:p>
          <a:p xmlns:a="http://schemas.openxmlformats.org/drawingml/2006/main">
            <a:r>
              <a:t>https://github.com/PipeWire/pipewire/blob/master/NEWS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前面列了很多名字，这一页把它们背后的变化归纳成四个软件问题。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个问题，是怎样访问硬件。应用如果要分别理解每一种声卡，开发和维护都会很困难。驱动、库和上层服务逐步分层，就是为了让硬件差异尽量留在下面。这里的驱动，指的是操作系统用来控制具体硬件的软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问题，是怎样让多应用共享声音设备。播放器、游戏和通知音都在输出数据时，系统需要管理每一路流，再把适合同时播放的声音汇合起来。流可以理解为一条持续产生或者消费音频数据的逻辑通道，混音就是把对齐后的多路样本按音量权重合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个问题，是怎样组织越来越复杂的处理。我们可以把重采样、增益、混音和音效分别做成处理单元，再根据数据关系连接起来。这里说的图，是数据流图。它既描述数据往哪里走，也可能影响谁先执行、谁必须等待。PreeAudio 里的 Node 承担处理，Cluster 把一组相关处理组织起来，Manager 负责连接和状态等管理工作。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个问题，是系统运行时还会发生变化。用户暂停播放、调音量、切换输出设备，这些属于控制工作。持续处理音频样本，则属于数据工作。两类工作的时限和执行特点不同，架构需要安排它们怎样协作，避免一次复杂的状态更新让送数失去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所以，后面的对比我会围绕三个具体对象展开：每个方案把什么当作核心单元，怎样安排执行，以及怎样让动态控制影响正在运行的处理。这样比单看类名或者接口名更容易理解它为什么长成现在的样子。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https://docs.kernel.org/sound/alsa-configuration.html</a:t>
            </a:r>
          </a:p>
          <a:p xmlns:a="http://schemas.openxmlformats.org/drawingml/2006/main">
            <a:r>
              <a:t>https://wiki.freedesktop.org/www/Software/PulseAudio/Documentation/Developer/Threading/</a:t>
            </a:r>
          </a:p>
          <a:p xmlns:a="http://schemas.openxmlformats.org/drawingml/2006/main">
            <a:r>
              <a:t>https://jackaudio.org/api/index.html</a:t>
            </a:r>
          </a:p>
          <a:p xmlns:a="http://schemas.openxmlformats.org/drawingml/2006/main">
            <a:r>
              <a:t>https://docs.pipewire.org/page_scheduling.html</a:t>
            </a:r>
          </a:p>
          <a:p xmlns:a="http://schemas.openxmlformats.org/drawingml/2006/main">
            <a:r>
              <a:t>https://docs.pipewire.org/page_session_manager.html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https://gitcode.com/openharmony/multimedia_audio_framework/blob/93f5fd0909cb495bc673f4eeeea6997c56f63114/services/audio_engine/manager/src/hpae_signal_process_thread.cpp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 PulseAudio。假设一台电脑同时播放音乐和浏览器里的声音，用户希望它们共用扬声器，又能分别调节音量。PulseAudio 的很多核心对象，都围绕这种流与设备的关系组织。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图的左侧是应用进程，libpulse 是应用使用的客户端库。右侧是 PulseAudio 服务进程。进程可以先理解成一个相对独立运行的程序，它有自己的地址空间。应用和服务之间要通过进程间通信来交换信息。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图中的紫色部分主要表示控制。应用发出请求，服务的主循环处理对象、连接和模块管理。主循环是一段持续等待事件、分派处理的执行流程。真正面向设备持续处理音频的，是下面的实时 I/O 线程。线程是进程内部的执行单元，这两类线程之间通过消息机制协作。pa_asyncmsgq 就是这里使用的一种消息队列。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蓝色部分表示音频数据。sink-input 这个名字容易绕，它在这里代表送入输出端的一路播放流。Sink 可以理解为接收音频的输出端，常见情况是对应某个播放设备。多路流经过必要的适配和音量处理，汇入 Sink，再由后端送往设备。图里的 ALSA 后端，就是 Linux 上连接底层声音系统的一条路径。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共享内存的作用，是让不同进程可以访问同一片底层存储，减少搬运音频数据的开销。它与控制消息有不同职责，也不能据此推断整条链路完全没有复制。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 PreeAudio 对照，PulseAudio 的公开模型很鲜明地围绕流、Sink 和设备时钟组织服务。PreeAudio 的公开结构则把引擎内的计算进一步组织为 Node 和 Cluster，再由 Manager 协调连接与状态。比较的重点是处理职责怎样组织，不能从这张图直接判断谁的时延一定更低。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https://wiki.freedesktop.org/www/Software/PulseAudio/Documentation/Developer/Threading/</a:t>
            </a:r>
          </a:p>
          <a:p xmlns:a="http://schemas.openxmlformats.org/drawingml/2006/main">
            <a:r>
              <a:t>https://gavv.net/articles/pulseaudio-under-the-hood/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https://gitcode.com/openharmony/multimedia_audio_framework/blob/93f5fd0909cb495bc673f4eeeea6997c56f63114/services/audio_engine/manager/src/hpae_renderer_manager.cpp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JACK 的全称是 JACK Audio Connection Kit。它很适合帮助我们理解另一种设计出发点：多个音频处理者怎样在同一套节奏下合作。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举个音乐制作的例子，采集到的声音可以分别交给两个效果处理程序，再把它们的结果交给一个汇合处理程序。图里的 A 和 B 没有彼此的数据依赖，所以它们有机会并行。C 需要 A 和 B 的结果，就必须等上游完成。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每个处理者通过端口读写音频。这里的端口是软件的数据入口和出口，和网络端口号是不同概念。libjack 是客户端库，process 回调则是每一块音频需要处理时执行的函数。回调的意思，就是应用先提供一段处理逻辑，运行系统在合适的时机调用它。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这就把应用组织成一张带执行依赖的处理图。连接既表示声音从哪里送到哪里，也意味着下游什么时候才具备运行条件。端口缓冲可以通过共享内存交换数据，从而减少进程间反复搬运。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JACK1 和 JACK2 在运行机制上有差别。经典 JACK1 模型按照满足依赖的顺序串行激活客户端。JACK2 使用数据流激活，在依赖和处理器资源允许时，可以让独立分支同时执行。有多核和有可并行分支，是利用这种能力的条件。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 PreeAudio，二者都会面对实时预算，也都有处理图。JACK 的图里，参与者可以是分别运行的音频应用。PreeAudio 这里关注的是系统引擎内部的节点与处理簇，以及 Manager 怎样管理它们的生命周期。核心差异落在图的组织尺度和运行职责。后面的三页附录，会把周期、并行和同步方式分别展开。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https://jackaudio.org/api/index.html</a:t>
            </a:r>
          </a:p>
          <a:p xmlns:a="http://schemas.openxmlformats.org/drawingml/2006/main">
            <a:r>
              <a:t>https://kokkinizita.linuxaudio.org/export/jackpres.pdf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PipeWire 的设计，可以先沿着图里的上下两层来看。上面解决图怎么组织，下面解决已经组织好的图怎样运行。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 WirePlumber。它是 PipeWire 生态中的会话管理器。会话管理在这里包含设备选择、连接策略和一些运行状态管理。例如新设备出现后，哪些流适合送过去，应该采用什么配置，这些都需要策略判断。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PipeWire 核心提供节点、端口和连接等机制。主线程处理对象配置和进程间通信，为图准备缓冲等运行资源。下面的数据线程则尽量专注于媒体处理，按照图里的依赖关系执行节点。这样的分工，让设备规则和偏好逻辑可以在控制侧管理，逐块计算则保持相对明确的执行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下面这个 Driver 需要特别解释。它是发起图处理周期的驱动节点，可以由硬件事件或者定时器触发。这个名字在这里指运行图的节拍发起者，不能直接等同于内核里的声卡驱动。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节点运行所需的共享资源里，activation 记录保存执行和依赖状态，eventfd 用于传递就绪或完成的唤醒通知。音频样本和“现在可以继续运行”的信号各有各的承载方式。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 PreeAudio 对照，处理图和策略分工都是可以共同讨论的机制。PipeWire 围绕较通用的媒体图分配控制与实时执行职责，节点还可以分布在不同进程里。本次看到的 PreeAudio 公开实现，则由 Manager 组织 Node 和 Cluster，并在相应工作循环中衔接消息处理与数据处理。理解差异，需要继续追问图由谁驱动、状态由谁修改，以及处理单元按什么范围组织。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https://docs.pipewire.org/page_scheduling.html</a:t>
            </a:r>
          </a:p>
          <a:p xmlns:a="http://schemas.openxmlformats.org/drawingml/2006/main">
            <a:r>
              <a:t>https://docs.pipewire.org/page_session_manager.html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https://gitcode.com/openharmony/multimedia_audio_framework/blob/93f5fd0909cb495bc673f4eeeea6997c56f63114/services/audio_engine/manager/src/hpae_signal_process_thread.cpp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https://gitcode.com/openharmony/multimedia_audio_framework/blob/93f5fd0909cb495bc673f4eeeea6997c56f63114/services/audio_engine/manager/src/hpae_renderer_manager.cpp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把三个方案放在一起，我们就能看到，同样是让声音持续输出，架构重心可以很不一样。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PulseAudio 的这一列，先看多流共享和动态设备管理。它用流、Sink 和 Source 描述音频生产与消费，再安排设备 I/O 线程处理适配和汇合。这里的 Source 是产生音频数据的输入端，例如一个录音输入。它需要协调设备时钟、缓冲和用户操作的响应。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JACK 的这一列，重心是周期内协作。各处理者通过端口形成依赖图，系统需要让这轮工作及时完成。独立分支能不能并行，哪一条路径决定最早完成时间，就会直接影响这套系统的运行方式。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PipeWire 的这一列，围绕通用媒体图展开。会话管理器负责策略，主线程配置图，数据线程执行图。它还要处理节点分布在不同进程中时的资源共享与执行协作。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PreeAudio 这一列，是根据公开 HPAE 结构归纳出来的。Manager 负责连接和状态，Node 承担处理，Cluster 组织一组相关处理，上层 Policy 和 Service 与引擎协同。它反映的是系统音频框架里对场景处理和状态组织的关注。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列的职责范围并不完全相同，所以表格更适合帮助我们理解设计选择。比如同样写着节点图，节点代表什么、谁来推动计算、控制变化怎样进入实时路径，答案仍然可能不同。至于哪种方案实际更快、更省电，或者切换更平顺，还需要在同样的设备和场景下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接下来的附录，我们把这些抽象往下落一层。先看 PulseAudio 的缓冲，再看 JACK 和 PipeWire 是怎样把图真正跑起来的。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https://wiki.freedesktop.org/www/Software/PulseAudio/</a:t>
            </a:r>
          </a:p>
          <a:p xmlns:a="http://schemas.openxmlformats.org/drawingml/2006/main">
            <a:r>
              <a:t>https://wiki.freedesktop.org/www/Software/PulseAudio/Documentation/Developer/Threading/</a:t>
            </a:r>
          </a:p>
          <a:p xmlns:a="http://schemas.openxmlformats.org/drawingml/2006/main">
            <a:r>
              <a:t>https://jackaudio.org/api/index.html</a:t>
            </a:r>
          </a:p>
          <a:p xmlns:a="http://schemas.openxmlformats.org/drawingml/2006/main">
            <a:r>
              <a:t>https://docs.pipewire.org/page_design.html</a:t>
            </a:r>
          </a:p>
          <a:p xmlns:a="http://schemas.openxmlformats.org/drawingml/2006/main">
            <a:r>
              <a:t>https://docs.pipewire.org/page_scheduling.html</a:t>
            </a:r>
          </a:p>
          <a:p xmlns:a="http://schemas.openxmlformats.org/drawingml/2006/main">
            <a:r>
              <a:t>https://docs.pipewire.org/page_session_manager.html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https://gitcode.com/openharmony/multimedia_audio_framework/blob/93f5fd0909cb495bc673f4eeeea6997c56f63114/services/audio_service/server/src/i_stream_manager.cpp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https://gitcode.com/openharmony/multimedia_audio_framework/blob/93f5fd0909cb495bc673f4eeeea6997c56f63114/services/audio_engine/manager/src/hpae_renderer_manager.cpp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这张原图把 PulseAudio 的缓冲层次展开了。我们沿着声音从应用走到设备的方向看，会更容易理解为什么说“有一个缓冲区”还不够具体。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最左侧是应用准备好的音频块。中间的 transport 表示传输边界。这里画了 socket 缓冲和共享内存池两种相关机制：一种保存需要通过通信通道交换的内容，另一种让不同进程共享音频块。不能只看见图上同时出现两个框，就认定每一个样本都按同一种方式依次复制两遍。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进入服务端以后，先看 stream buffer，也就是流缓冲。它保存这一路流提供的数据。然后是 resampler buffer，也就是重采样相关缓冲。重采样解决的是采样率不一致的问题，例如一段每秒四万四千一百个采样时刻的音乐，需要适配每秒四万八千个采样时刻的输出节奏。系统要根据原始样本计算新采样位置对应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再往右是 render queue，可以理解为准备供输出端读取的渲染队列。最后是 device buffer，也就是设备侧使用的缓冲。不同缓冲承担传输、计算和设备交付的不同职责。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最容易混淆的，是缓冲容量和当前排队数据量。一个缓冲能装一百毫秒，不意味着此刻一定有一百毫秒的数据在等待。我们分析时延，要看各层实际存了多少还没播放的数据，以及数据处理和设备传输需要多少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这也解释了为什么调大缓冲可能降低断供风险，却可能增加等待。真正的工程问题，是在稳定性和响应之间找到适合场景的安排。这张图来自面向 PulseAudio 11.1 的分析材料，我们用它理解这些层次，具体版本仍要结合实际实现核对。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https://gavv.net/articles/pulseaudio-under-the-hood/</a:t>
            </a:r>
          </a:p>
          <a:p xmlns:a="http://schemas.openxmlformats.org/drawingml/2006/main">
            <a:r>
              <a:t>https://gavv.net/articles/pulseaudio-under-the-hood/diagrams/buffers.png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 JACK 的一轮工作展开。先按同步模式理解：设备有了这一轮输入数据，系统运行图里满足依赖的处理者，结果继续交给下游，最后提交这一轮输出。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看左边的连接图，有些节点可以独立开始，有些节点要等别人的输出。这个关系决定了运行顺序的约束。端口连线画的是数据关系，实际执行还需要运行系统去安排唤醒和同步。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右边的 process(nframes)，就是客户端处理一块音频的回调。nframes 告诉它这次需要处理多少帧。在 PCM 音频里，一帧包含同一采样时刻的所有声道样本。比如双声道的一帧里有左声道和右声道两个样本，所以一百二十八帧双声道音频，一共有二百五十六个样本值。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调会读取输入端口的缓冲，完成本块计算，再填好输出端口缓冲。它处在实时处理路径上，应该避免磁盘访问、可能等待的锁和不可预测的内存分配。原因是即使算法平时很快，一次偶发的长等待也可能让整轮结果交付迟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算一个例子。假设每块一百二十八帧，采样率是四万八千赫兹，那么一块代表的时间大约是二点六七毫秒。这是名义块周期。图处理的关键路径、唤醒和同步都要占用可用时间，不能让每个节点都各自独占二点六七毫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同时，这个数字也不能直接当作从麦克风到扬声器的总时延。其它缓冲、设备传输和运行模式都会参与。理解了这一轮的预算，下一页就能进一步回答：多核到底能帮助我们缩短哪一部分时间。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https://kokkinizita.linuxaudio.org/export/jackpres.pdf</a:t>
            </a:r>
          </a:p>
          <a:p xmlns:a="http://schemas.openxmlformats.org/drawingml/2006/main">
            <a:r>
              <a:t>https://jackaudio.org/api/group__ClientCallbacks.html</a:t>
            </a:r>
          </a:p>
          <a:p xmlns:a="http://schemas.openxmlformats.org/drawingml/2006/main">
            <a:r>
              <a:t>https://jackaudio.org/api/index.html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我们用四个处理者做一个简化例子。A 和 B 可以独立执行，C 需要它们两者的结果，D 再等待 C。为了看清依赖的影响，假设 A 需要两个时间单位，B 需要三个，C 需要两个，D 需要一个。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上面是一种合法的串行顺序：A 做完再做 B，然后是 C，最后是 D。四段加起来，一共需要八个时间单位。经典 JACK1 模型按满足连接依赖的顺序激活客户端，我们用这条顺序表示它的特点。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下面换成 JACK2 的依赖驱动方式。如果有两个工作核，而且调度条件允许，A 和 B 就可以从同一个起点开始。A 在第二个单位结束，但 C 还不能开始，因为 B 要到第三个单位才结束。等 B 也完成，C 才运行两个单位，接着 D 再运行一个，最终在第六个单位结束。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这里决定最早完成时间的，是关键路径。这个例子里，它等于 A、B 中较长的那段，再加 C 和 D。所以我们不能简单地把所有计算时间除以处理器核数。图中有多少真正独立的工作，以及汇合点前哪条分支最慢，会限制并行收益。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真实系统还会付出唤醒、同步和缓存访问的开销，因此八和六只是帮助理解机制的教学数字。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JACK2 还针对图访问采用无锁技术，减少连接变化对实时执行的干扰。这里的无锁有明确作用范围，不能把它扩展成整个引擎永远没有任何等待。把依赖并行和图变化管理放在一起，就能看到 JACK2 的架构演进关注的是怎样让图在多处理器和动态变化下继续运行。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https://archive2010.grame.fr/ressources/publications/Jackdmp-lac2005.pdf</a:t>
            </a:r>
          </a:p>
          <a:p xmlns:a="http://schemas.openxmlformats.org/drawingml/2006/main">
            <a:r>
              <a:t>https://raw.githubusercontent.com/jackaudio/jack2/develop/README.rst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上一页讲的是一轮里哪些工作可以同时做。这一页再换一个角度：设备这一轮拿到的，究竟是哪一轮的计算结果。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先看蓝色的同步模式。在周期 n 中，系统完成这一轮图的计算，然后使用这一轮的结果。图里写成“计算 n，写出 n”。当前结果能直接参与交付，但交付也需要等这一轮相关工作完成。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再看绿色的异步模式。在周期 n 中，系统运行新一轮计算，同时使用前一周期已经算好的结果。因此图里写成“计算 n，写出 n 减一”。到下一个周期，再把这一轮的结果交出去。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一来，设备交付与当前计算之间多了一层跨周期安排，代价是相对于同步模型多一个处理周期的流水线延迟。假设一个周期是二点六七毫秒，这部分代价大约就是二点六七毫秒，但设备和其它缓冲产生的时延还要另外考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异步模式下，一个客户端这一轮没有及时运行，其它客户端仍然可能继续并形成部分输出。它提供了不同的运行取舍，不过迟到部分的内容仍然可能有问题，不能理解成系统从此就没有断音风险。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所以，并行和异步要分开理解。并行说的是 A、B 能不能同时计算，异步说的是结果跨哪一个周期交付。异步也不意味着计算没有截止时间。两个维度分清以后，我们再看 PipeWire 里的异步节点和异步连接，就更容易识别它们的作用范围。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https://raw.githubusercontent.com/jackaudio/jack2/develop/README.rst</a:t>
            </a:r>
          </a:p>
          <a:p xmlns:a="http://schemas.openxmlformats.org/drawingml/2006/main">
            <a:r>
              <a:t>https://lac.linuxaudio.org/2009/cdm/Thursday/01_Letz/01.pdf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接下来把 PipeWire 的策略层展开。可以想象用户正在听音乐，这时一个新的输出设备出现了。系统首先要知道设备可用，然后决定是不是使用它、采用什么配置，以及已有音频应该怎样连接。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这些工作包含不少策略因素。比如默认设备偏好、设备的不同工作配置，以及节点应该提供什么格式和端口。WirePlumber 作为会话管理器，会持续监视相关事件，管理设备、节点和连接，还会维护默认输入输出之类的元数据。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这里的元数据，是描述状态和偏好的信息。它可以记录“默认输出选谁”，里面并不装音乐样本本身。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面这四步，是帮助我们理解职责的概念顺序。实际系统是持续处理事件，未必每次都按同一条简单的调用链运行。创建连接之前，节点可能还需要配置格式和端口。创建连接之后，设备或节点配置也可能继续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下面的实时执行层，在这些对象和资源准备好以后，按图持续处理音频。每一块样本通常不需要再让会话管理器重新判断一次设备偏好。策略逻辑和逐块计算因此有了不同的执行职责。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 PreeAudio 联系起来，我们也会看到上层策略与引擎之间的协作。真正值得比较的，是一次规则变化怎样转成节点连接、状态和输出资源的更新。策略分离这个思想可以出现在多种框架中，具体的软件边界和执行机制则各有实现。是否能平顺切换，还需要看设备、缓冲衔接和实际运行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https://pipewire.pages.freedesktop.org/wireplumber/design/understanding_session_management.html</a:t>
            </a:r>
          </a:p>
          <a:p xmlns:a="http://schemas.openxmlformats.org/drawingml/2006/main">
            <a:r>
              <a:t>https://docs.pipewire.org/page_session_manager.html</a:t>
            </a:r>
          </a:p>
          <a:p xmlns:a="http://schemas.openxmlformats.org/drawingml/2006/main">
            <a:r>
              <a:t>https://docs.pipewire.org/page_scheduling.html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有了图以后，运行系统还需要回答一个很具体的问题：某个节点现在到底能不能开始。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先看左边的 Driver。它发起这一轮处理，之后 A 和 B 都已经具备各自的运行条件。C 则需要 A 和 B 两份结果，所以它暂时要等。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下面的 pending，可以读成“还有多少个前置条件没有满足”。这个例子从 Driver 已经发起周期以后看，只计算 C 尚未满足的上游依赖。A 和 B 都没完成时，C 的 pending 是二。A 完成以后，变成一。B 也完成以后，变成零，C 才具备运行条件。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这种状态保存在 activation 记录中。activation 是节点运行时的激活记录，其中除了依赖计数，还可以有执行状态和时间相关信息。上游完成以后更新相关状态，再通过 eventfd 等机制通知可以继续运行的后继节点。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eventfd 可以先理解成 Linux 提供的一种可等待的计数通知机制。它告诉对方有事情发生，音频样本仍然保存在相应的数据缓冲中。把数据和通知分开，就能让唤醒不必携带整块音频。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这里的数字是简化后的工作依赖。完整实现还有 Driver 相关的依赖和周期完成回报，不能把图上的二、一、零直接当成整个激活结构的全部计数。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这套方式的核心，是让数据依赖参与运行条件判断。与 PreeAudio 比较时，需要具体看 Manager 怎样驱动处理簇、输出处理怎样带动上游取数。都有节点和连线，并不意味着它们使用同一种调度器。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https://docs.pipewire.org/page_scheduling.html</a:t>
            </a:r>
          </a:p>
          <a:p xmlns:a="http://schemas.openxmlformats.org/drawingml/2006/main">
            <a:r>
              <a:t>https://gitcode.com/openharmony/multimedia_audio_framework/blob/93f5fd0909cb495bc673f4eeeea6997c56f63114/services/audio_engine/manager/src/hpae_renderer_manager.cpp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这一页进一步看，图里的两个节点如果处在不同进程里，该怎样合作。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先看上面的主线程，它负责对象、连接和共享资源的配置。左右两边是进程 A 和进程 B，它们都有参与实时处理的线程。进程之间默认有各自独立的地址空间，因此不能随意把一个进程中的普通指针交给另一个进程使用。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中间的共享资源解决了其中一部分问题。系统把适合共享的底层内存映射到相关进程里，这样双方可以访问约定的缓冲区域。共享资源中既有媒体数据使用的缓冲和 I/O 区，也有 activation 这类执行协作状态。它们共同帮助节点交换结果并判断运行条件。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下面的虚线表示唤醒协作。节点 A 完成后，可以通过传递好的 eventfd 去触发相连的后继。在这样的执行路径里，不要求每一步都先回到服务主线程，再由主线程逐个转发。这里的跨进程，指同一台机器上的不同进程，不能据此推断节点可以直接跨互联网共享一片内存。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我们还要注意，共享内存减少的是某些数据传输开销。重采样、混音或格式转换可能需要生成新结果，设备路径也可能存在复制，所以它并不能保证全链零拷贝。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这张图体现的架构选择，是把媒体处理分布到不同执行者，再通过共享数据和运行通知协作。对比 PreeAudio 时，我们要继续看处理者分布在哪里、缓冲由谁持有，以及完成信号怎样推动后续工作。这些问题决定了运行成本和状态管理方式。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https://docs.pipewire.org/page_design.html</a:t>
            </a:r>
          </a:p>
          <a:p xmlns:a="http://schemas.openxmlformats.org/drawingml/2006/main">
            <a:r>
              <a:t>https://docs.pipewire.org/page_objects_design.html</a:t>
            </a:r>
          </a:p>
          <a:p xmlns:a="http://schemas.openxmlformats.org/drawingml/2006/main">
            <a:r>
              <a:t>https://docs.pipewire.org/page_scheduling.html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前面主要讨论同步依赖图。现在假设某个处理节点很难稳定跟上同步节奏，PipeWire 还提供了异步节点和异步连接的安排。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这时，异步节点与普通同步链之间的完成依赖会解耦。为了让两边并行读写时不冲突，异步 Link 使用两个交接槽位。这里的槽位是 I/O 缓冲交接位置，可以保存正在交接的缓冲信息，不能简单理解成整个系统总共只有两块音频内存。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看表格的周期零。生产节点 A 把数据零写到槽一，消费节点 B 此时读槽零，拿到的是上一周期已经准备好的数据。到了周期一，A 改写槽零里的新结果，B 则从槽一读到数据零。再下一个周期，两边继续交换角色。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这样安排以后，生产者和消费者在同一个周期使用不同槽位。消费者使用的结果比当前生产晚一个图周期，因此一般每经过一条这样的异步 Link，都会增加一个周期的延迟。表格按已经稳定运行的情况画，启动时的初始数据和 Driver 输出的特殊处理没有展开。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这项取舍带来的自由度，是同步图不用等这个异步节点完成同一轮工作。但迟到部分的数据仍然可能不完整，它也没有消除系统的实时要求。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最后，把它和 JACK2 对照。JACK2 前面讲的是服务器级的同步或异步激活，这里讲的是节点和 Link 级的异步机制。我们可以比较它们怎样安排跨周期交付，但不能把两种模式直接视为同一套实现，更不能因为 PreeAudio 使用异步消息队列，就推断它采用了同样的音频跨周期处理方式。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https://docs.pipewire.org/page_scheduling.html</a:t>
            </a:r>
          </a:p>
          <a:p xmlns:a="http://schemas.openxmlformats.org/drawingml/2006/main">
            <a:r>
              <a:t>https://docs.pipewire.org/group__spa__buffer.html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最后用作者这张整体架构图，把前面拆开的几部分重新放回系统里。原图信息比较多，我们按层来看。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最上面是不同类型的应用和媒体来源，包括音频应用、视频应用，以及与桌面画面共享有关的组件。它们可能使用不同的现有接口。对理解架构来说，更重要的是这些需求最终怎样参与媒体图。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 PipeWire 区域画出了节点和端口连接。旁边的 WirePlumber 负责前面讲过的设备配置与会话策略。结合刚才的附录，可以把这层理解成两件彼此协作的事：一边维护图和运行资源，一边按依赖与周期执行媒体处理。节点本身还可能位于其它进程，不能把中间画在同一区域，就理解成所有计算都在一个线程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再往下看 SPA，全称是 Simple Plugin API。它给设备和媒体处理单元提供插件接口。这里可以把插件理解成按约定接进框架的一类功能实现，既可以对接设备能力，也可以提供相关处理。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底下还有 ALSA-lib、BlueZ、libcamera 等不同的系统组件。ALSA-lib 参与 Linux 音频设备访问，BlueZ 是 Linux 的蓝牙协议栈，libcamera 提供相机相关的用户态框架。更下面才是内核中的不同设备支持。它们承担的媒体类型和设备职责并不一样。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这张图来自二〇二四年的演讲，用来帮助我们理解整体组织。具体模块和能力要结合实际版本核对。回到这次与 PreeAudio 的比较，值得带走的问题是：一个框架怎样划分策略、图管理与实时执行，怎样在设备变化时维持处理，以及怎样让新的场景进入既有处理结构。带着这些问题，再看源码中的 Manager、Node 和 Cluster，它们就有了更具体的意义。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资料来源（查阅日期 2026-10-22）</a:t>
            </a:r>
          </a:p>
          <a:p xmlns:a="http://schemas.openxmlformats.org/drawingml/2006/main">
            <a:r>
              <a:t>https://archive.fosdem.org/2024/events/attachments/fosdem-2024-1988-pipewire-state-of-the-union/slides/22795/PipeWire-slides_JBa52sZ.pdf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32e61bcb546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28aaaf6b741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0f5dc7ad6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eec31a82e44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4a678028a4c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c1bf7189d40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0BC2C-52CD-4F54-93B9-41F4BDDFF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976991-20BA-4EB1-B518-B37B373580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95533E-3317-4778-AF57-6EEF62E52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1F5DF5-B962-4124-9E00-9F2D9CDBD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266B86-BC45-4C30-BA84-E986A91D2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20FC0B-64AD-4E89-A65B-129548A59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B97061-21FD-451C-A968-56B4114BEA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889972-949D-4C01-8012-D8B9F64795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F4CD14-0B04-40D4-957D-45FB91F23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FFC444-7570-4680-9176-990E8BF8A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6f37a954549aa" /><Relationship Type="http://schemas.openxmlformats.org/officeDocument/2006/relationships/slideLayout" Target="/ppt/slideLayouts/slideLayout1.xml" Id="Rfd2a3ac0993e4e5e" /><Relationship Type="http://schemas.openxmlformats.org/officeDocument/2006/relationships/slideLayout" Target="/ppt/slideLayouts/slideLayout2.xml" Id="Rb02bf0e6937d426a" /><Relationship Type="http://schemas.openxmlformats.org/officeDocument/2006/relationships/slideLayout" Target="/ppt/slideLayouts/slideLayout3.xml" Id="R178768c6722c4326" /><Relationship Type="http://schemas.openxmlformats.org/officeDocument/2006/relationships/slideLayout" Target="/ppt/slideLayouts/slideLayout4.xml" Id="R72bbb093c3514a59" /><Relationship Type="http://schemas.openxmlformats.org/officeDocument/2006/relationships/slideLayout" Target="/ppt/slideLayouts/slideLayout5.xml" Id="R6e3b7f0b900d4fa0" /><Relationship Type="http://schemas.openxmlformats.org/officeDocument/2006/relationships/slideLayout" Target="/ppt/slideLayouts/slideLayout6.xml" Id="Rd597035076b0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2a3ac0993e4e5e"/>
    <p:sldLayoutId xmlns:r="http://schemas.openxmlformats.org/officeDocument/2006/relationships" id="2147483650" r:id="Rb02bf0e6937d426a"/>
    <p:sldLayoutId xmlns:r="http://schemas.openxmlformats.org/officeDocument/2006/relationships" id="2147483651" r:id="R178768c6722c4326"/>
    <p:sldLayoutId xmlns:r="http://schemas.openxmlformats.org/officeDocument/2006/relationships" id="2147483652" r:id="R72bbb093c3514a59"/>
    <p:sldLayoutId xmlns:r="http://schemas.openxmlformats.org/officeDocument/2006/relationships" id="2147483653" r:id="R6e3b7f0b900d4fa0"/>
    <p:sldLayoutId xmlns:r="http://schemas.openxmlformats.org/officeDocument/2006/relationships" id="2147483654" r:id="Rd597035076b0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2ec8cee994b4c" /><Relationship Type="http://schemas.openxmlformats.org/officeDocument/2006/relationships/notesSlide" Target="/ppt/notesSlides/notesSlide1.xml" Id="R4adbd1c64105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2b64e2a274072" /><Relationship Type="http://schemas.openxmlformats.org/officeDocument/2006/relationships/notesSlide" Target="/ppt/notesSlides/notesSlide2.xml" Id="R1169df39e8bf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a15ad27dd4e19" /><Relationship Type="http://schemas.openxmlformats.org/officeDocument/2006/relationships/notesSlide" Target="/ppt/notesSlides/notesSlide3.xml" Id="R36fe6b44170c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a957abb714d4e" /><Relationship Type="http://schemas.openxmlformats.org/officeDocument/2006/relationships/notesSlide" Target="/ppt/notesSlides/notesSlide4.xml" Id="Rf768ac60e1c9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955c04e434572" /><Relationship Type="http://schemas.openxmlformats.org/officeDocument/2006/relationships/notesSlide" Target="/ppt/notesSlides/notesSlide5.xml" Id="Rc00f3d284545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acb2941b64bef" /><Relationship Type="http://schemas.openxmlformats.org/officeDocument/2006/relationships/notesSlide" Target="/ppt/notesSlides/notesSlide6.xml" Id="Rd72f805c810a43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6984a8ec94adf" /><Relationship Type="http://schemas.openxmlformats.org/officeDocument/2006/relationships/image" Target="/ppt/media/image.png" Id="Rde1cd9049dbc4db2" /><Relationship Type="http://schemas.openxmlformats.org/officeDocument/2006/relationships/notesSlide" Target="/ppt/notesSlides/notesSlide7.xml" Id="R0dd23a37a0924a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db065a82c4617" /><Relationship Type="http://schemas.openxmlformats.org/officeDocument/2006/relationships/image" Target="/ppt/media/image2.png" Id="R41b95a8941524b66" /><Relationship Type="http://schemas.openxmlformats.org/officeDocument/2006/relationships/notesSlide" Target="/ppt/notesSlides/notesSlide8.xml" Id="Rbd36d3d8b341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bae6fdb5143a9" /><Relationship Type="http://schemas.openxmlformats.org/officeDocument/2006/relationships/notesSlide" Target="/ppt/notesSlides/notesSlide9.xml" Id="Ra944055240d84f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8c9f4961b4afc" /><Relationship Type="http://schemas.openxmlformats.org/officeDocument/2006/relationships/notesSlide" Target="/ppt/notesSlides/notesSlide10.xml" Id="R45b6761b248b4d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d024df43b4b32" /><Relationship Type="http://schemas.openxmlformats.org/officeDocument/2006/relationships/notesSlide" Target="/ppt/notesSlides/notesSlide11.xml" Id="R1a9689bb716d43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74a1a12fe4315" /><Relationship Type="http://schemas.openxmlformats.org/officeDocument/2006/relationships/notesSlide" Target="/ppt/notesSlides/notesSlide12.xml" Id="Rf2d6d17303ea47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602d43c9547e0" /><Relationship Type="http://schemas.openxmlformats.org/officeDocument/2006/relationships/notesSlide" Target="/ppt/notesSlides/notesSlide13.xml" Id="R307b44014b1543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e78f3915f46a4" /><Relationship Type="http://schemas.openxmlformats.org/officeDocument/2006/relationships/notesSlide" Target="/ppt/notesSlides/notesSlide14.xml" Id="R05b006c719f445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414205a984d6b" /><Relationship Type="http://schemas.openxmlformats.org/officeDocument/2006/relationships/image" Target="/ppt/media/image3.png" Id="Rc037aa0c0e464c4d" /><Relationship Type="http://schemas.openxmlformats.org/officeDocument/2006/relationships/notesSlide" Target="/ppt/notesSlides/notesSlide15.xml" Id="Rf5fc7d588d12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02A663-24C9-4B8B-8910-AAD4B7C9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音频引擎的软件架构演进时间线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5DED6-2B0C-4941-BDE7-F5287EF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以 Linux / POSIX 路线为主，观察设备抽象、共享服务和实时处理如何发展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CE7D3-12D5-4488-9350-5C0EAAA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2E685-C0BD-4EF6-901C-EFD15082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年代表示代表性阶段，各层与路线长期并存。PreeAudio 的定位沿用现有分享材料中的公开源码快照。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CE03-01E2-48C0-8D4D-C6C29BE8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158B4-65CE-409A-B6DD-C2A743A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1990 年代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D4975-B0CC-4CB7-915B-12CDB15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2790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CA727-D4FE-4DB0-8BCB-61FA095D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86100" y="2790825"/>
            <a:ext cx="295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FE6E4-705F-4A5D-839B-B1A2C82C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14700" y="27432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04824-F782-479F-95EC-A3355D2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14700" y="27908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F1CFA-CDE8-4768-9DFE-CBC67D2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设备接口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BDC04-06DA-446F-87E5-376DB2D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OSS 等设备接口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E1BAE-8762-44F1-92D1-DD3D854B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应用直接读写设备</a:t>
            </a:r>
          </a:p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上层承担更多协调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8A9A3-10D6-4C89-A857-499F8192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240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1990 年代末起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E2F9B-C029-4AF6-ADC3-A91B13CD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2790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8B00E-F6D2-41DC-96C5-718E837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2790825"/>
            <a:ext cx="295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AF27B-9802-4C22-9668-726F5155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27432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CBFBB-77D3-4D6A-8A79-5B3E1932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86475" y="27908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81C8F-B743-4A43-9FD8-B9D6357A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驱动与库分层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50408-6DBF-4042-A6E3-ADA7F2A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ALSA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F901C-4564-48B0-A693-225D004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291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统一硬件访问</a:t>
            </a:r>
          </a:p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为上层服务提供底座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3A0C8-9693-4028-AA83-D54FE5B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2000 年代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47064-3AA5-42E5-9042-E6D0CE1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53150" y="2790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31679-1714-4CD6-ACAF-20C800D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2790825"/>
            <a:ext cx="295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2D35B-E7BB-4425-9C22-4E3B551B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27432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EDD62-81EC-41F2-9E8A-B09C680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58250" y="27908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5E610-8373-49EA-8CCD-93159C0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用户态音频服务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72750-E7AD-4F76-B070-952D4908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PulseAudio / JACK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327D3-960D-4324-9D5A-7F0E7C0F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桌面多流管理</a:t>
            </a:r>
          </a:p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专业同步处理分化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DC92A-DAAB-4EDC-A2DD-0A426ABB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240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2017 年至今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2D11E-FA63-4CB1-9B69-17BC5BD1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24925" y="2790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D4426-1FD9-48C6-94E1-251E65A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48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统一媒体图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F7003-F741-40D8-AC7F-81A5DF9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38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PipeWire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54EFB-FF95-409A-B2F8-E412EFF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291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音视频节点与连接</a:t>
            </a:r>
          </a:p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兼顾桌面和专业音频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410DF-7828-4BDC-8564-8D1E641B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196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2006 年更名为 PulseAudio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6EEE2-3BD1-47AF-97A4-8023DD6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2023 年发布 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6A00FD-0E81-49F7-B5FF-208A3B1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53340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F42971-EBD0-4C93-B25E-C285A9E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当代终端路线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F716F-902F-41E2-951E-2DAA4FF9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8640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PreeAudio：在鸿蒙音频框架内组织节点处理，衔接系统策略与设备输出</a:t>
            </a:r>
          </a:p>
        </p:txBody>
      </p:sp>
    </p:spTree>
    <p:extLst>
      <p:ext uri="{BB962C8B-B14F-4D97-AF65-F5344CB8AC3E}">
        <p14:creationId xmlns:p14="http://schemas.microsoft.com/office/powerpoint/2010/main" val="529401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2DF70-B93D-417C-8BBA-813C7E4D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演进中的四个软件架构变化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80D4-32A0-4913-BDE1-5DD89208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新增需求不断改变职责划分，现代方案把更多运行机制明确到框架中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EB6DB-2D88-4540-85DA-F035E67A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766D8-4B87-413B-9B99-97A8A9BF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这里比较设计侧重，不表示早期方案完全缺少相关能力，也不构成不同产品的性能排名。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94EB9-BC1C-4781-9FFF-4B4CDB38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F45B2-9CD7-40E4-9C67-11F971919984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4857750"/>
                <a:gridCol w="4076700"/>
              </a:tblGrid>
              <a:tr h="68961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架构问题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代表性变化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 PreeAudio 的理解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</a:tr>
              <a:tr h="68961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硬件访问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设备接口逐步形成驱动、库和服务分层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引擎经 Sink 对接设备边界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8961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多应用共享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音频服务管理流、混音与设备输出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Manager 组织输入流和输出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8961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复杂处理组织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处理单元形成图，按依赖交付数据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/ Cluster 承接处理管线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8961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动态状态变化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控制、策略与实时处理明确分工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Policy / Service / Engine 协作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F8584-3A6C-4DD0-8FC9-EC2CD5CC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架构主线：硬件访问逐步抽象，处理单元逐步组合，运行职责逐步分离</a:t>
            </a:r>
          </a:p>
        </p:txBody>
      </p:sp>
    </p:spTree>
    <p:extLst>
      <p:ext uri="{BB962C8B-B14F-4D97-AF65-F5344CB8AC3E}">
        <p14:creationId xmlns:p14="http://schemas.microsoft.com/office/powerpoint/2010/main" val="1614965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93622C-E7BA-4A49-BC9F-BF17C31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PulseAudio：以流和设备组织音频服务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06A90-7489-4EBE-B140-2F50255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设计侧重多流共享与设备管理，主循环和实时 I/O 通过消息协作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BA356-326D-4CC5-9CF2-84AB5394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05E2B-E992-4175-B708-490742C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参考 Gavv（2017，PA 11.1）与官方线程文档重绘。蓝色为 PCM 数据，紫色虚线为控制关系。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AD74D-D948-46A0-9CD2-BD68107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F2CB6-3607-4AEF-B172-DCB6C4E4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002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8B350-49CC-4963-8392-13EA7F58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客户端进程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489C1-1967-4A49-AF03-D2ABD04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3053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68B6F-F73C-4E8D-BEBC-25D22B3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43125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PulseAudio 服务进程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24DD0-7805-4630-BBC1-162B7F50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657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B9E63-263E-4FAC-A7FE-DED053A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46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18F1D-A088-4099-8438-E331462B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657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7391D-CDB8-479E-9033-B6A7E52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46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libpulse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0C8FE-9A1A-41FF-9767-D9BC370A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09725" y="3171825"/>
            <a:ext cx="9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65797-E18C-4639-AA7C-749C070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2100" y="342900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CA4FA-3906-4179-A982-08823C59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09725" y="342900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52BA7-2263-4A54-AC84-656046FD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18478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D1083-9AB1-4619-AA2D-25DBA72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657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Native 协议模块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6C498-6E64-4843-B78E-E0B17AE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B28F6-5EF5-43B9-9CD7-5887AFF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Core / Modules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58B74-ED07-4AEB-B163-4369972A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05600" y="2895600"/>
            <a:ext cx="209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D1722-EC39-4B22-9E57-D81908F2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48475" y="28479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5A0B7-5BF3-4250-A3CB-6E657882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48475" y="28956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1758D-5E9A-4AD0-928E-F1BD64E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670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主循环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4C7CF-B4D9-4E1A-B937-9A63E75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3743325"/>
            <a:ext cx="361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ED9E1-454F-498C-A768-8675DB1E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2895600"/>
            <a:ext cx="95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7228B-D600-4F29-AFD6-4357E267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2895600"/>
            <a:ext cx="2057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78E20-47FF-4C8E-B1F7-AB2877A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8479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A60AC-B5FD-4F69-AF1A-A5C1928C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91075" y="28956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DBCE8-6622-4C81-9F06-8E75AFC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241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socket / 协议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67BD0-4F68-4A1E-B135-9AA3A21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76725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86948-B927-490A-9974-F0A75853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14825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共享内存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PCM 传输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ECFAC5-1899-42F2-A6A8-68D929E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3819525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7E5D1-EA01-41E2-BBF1-1068E464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3819525"/>
            <a:ext cx="9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6107BA-FC57-425E-BF7B-AC2EC5D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462915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838043-680A-4232-9D87-0648898C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5815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5D8437-88B2-468B-8ADE-77D73CC4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05125" y="46291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85FA9-334F-432B-A89F-CD960F33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9975"/>
            <a:ext cx="396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实时 I/O 线程：pa_rtpoll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79625C-F1A1-472C-8415-B75813A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1847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81072-3741-42A7-B235-C3F3A10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sink-input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适配 / 音量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EB602-137D-4E10-B3E6-C7750E9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4812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64C442-588F-4468-81A2-9FAD2AC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862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Sink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混音 / 设备时钟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510E22-8D10-4BAE-AF12-34B60E3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95800" y="4629150"/>
            <a:ext cx="361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A3AE1-C9CA-4645-86D8-F04660B1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45815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B7A72-0005-4EEC-BD73-7791B00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91075" y="46291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F6519-16E2-4DD8-AAFD-924FC58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05600" y="4419600"/>
            <a:ext cx="209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330F9B-E15D-4961-92E4-8BDB6E60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48475" y="43719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425457-D581-4167-8E6D-0B4965B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48475" y="44196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8B62A0-E979-470B-A0B6-2D6FAE2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8600" y="3171825"/>
            <a:ext cx="9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691D04-DBC0-43A0-8116-01739921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00975" y="398145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89DB6-E457-437C-8DE7-CFBA89C1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48600" y="398145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EA73F3-84F9-4D7F-84E9-79579C7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pa_asyncmsgq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2E73D-7A0A-4118-9FA8-804DF80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8600" y="4791075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284A5E-76F3-421E-8958-8221DB0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00975" y="549592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92AF35-C92A-4277-8B01-1751D553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48600" y="549592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E64FB7-402B-4668-BA01-124FFB48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785565-86B4-46E3-A3AF-D305942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00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ALSA 后端与设备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A14CCA-138C-437C-B05D-7EF9FCE2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336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与 PreeAudio 对照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9D4F9A-32AA-4611-8134-20D7237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38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PA 以流、Sink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和设备时钟组织服务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缓冲承担协调作用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PreeAudio 用节点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与处理簇组织计算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Manager 管连接状态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比较重点是流管理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与处理管线的组织</a:t>
            </a:r>
          </a:p>
        </p:txBody>
      </p:sp>
    </p:spTree>
    <p:extLst>
      <p:ext uri="{BB962C8B-B14F-4D97-AF65-F5344CB8AC3E}">
        <p14:creationId xmlns:p14="http://schemas.microsoft.com/office/powerpoint/2010/main" val="519105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B51E3-E538-4CC4-B871-B3ACF07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JACK：共享端口缓冲与依赖图调度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59747-6ECF-4D5B-B8BA-0E941AA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跨应用的 process() 回调按连接依赖协作，JACK2 可利用互不依赖的分支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88D22-CD39-4A98-9514-57F6FD3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530C-95B4-465A-B697-F5A24CEF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依据 Fons Adriaensen（2014）讲解与 JACK 官方 API 重绘。箭头表示数据依赖，下方说明缓冲与调度职责。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1D3A2-5CBD-4ADB-9A4F-695E151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280BD-689F-4769-BC94-C0F7DBF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81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EF1F6-F6D9-4875-B30F-75DCD0E6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19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采集端口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D5CDD-DBAD-498F-9A1A-566377B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90750"/>
            <a:ext cx="2066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2FB12-D69A-4A53-949B-96F603B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38375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A 进程 / libjack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C8756-580E-45AF-96E3-055BAA7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71750"/>
            <a:ext cx="1819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3CA08-6D62-4BEB-98F7-390EEC0C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9850"/>
            <a:ext cx="162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process() 回调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2918E-BE32-41F3-9BC3-74A5527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81375"/>
            <a:ext cx="2066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C376B-88E6-4D26-ADFB-F03B1FE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29000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B 进程 / libjack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2F850-FEEF-4AE9-B191-EA8B13D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62375"/>
            <a:ext cx="1819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E1A3B-5C14-4291-B638-A7BD84E7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00475"/>
            <a:ext cx="162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process() 回调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0813A-B9D2-4440-A1D7-585790EA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52725"/>
            <a:ext cx="20669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19240-F498-4F8C-8788-586BBD09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00350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C 进程 / libjack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67F8D-AB55-495C-AAE2-76F9BC5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71825"/>
            <a:ext cx="1819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9CC7F-E215-423F-A733-F5CFEF84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9925"/>
            <a:ext cx="162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process() 回调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1B1F1-D058-445D-B1E1-D8837E3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57525"/>
            <a:ext cx="13239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77A5F-CE6E-4CD8-902B-F5F04C4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95625"/>
            <a:ext cx="1133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播放端口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6CF64-7DD4-4888-9B55-E65728F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0725" y="3371850"/>
            <a:ext cx="23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D9F52-5D6D-48ED-909B-0CAA81A0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8850" y="2781300"/>
            <a:ext cx="95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E5EE8-35F1-4023-899B-999684A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8850" y="2781300"/>
            <a:ext cx="400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0624E-C62B-45CC-96EF-B20C6874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62225" y="2733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6D0B8-14E5-4695-96EB-EF6315A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62225" y="27813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EEC83-1D0D-4CDB-96FD-B89F28F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8850" y="3952875"/>
            <a:ext cx="400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F9B06-6FD6-4EC9-98AE-8CF9E26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62225" y="39052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E5D96-1DE8-4096-9BE1-4F06F869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62225" y="39528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F8FE5-B397-4D21-81A1-7AE725D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48175" y="2781300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FD25C-4181-4E40-8EE4-7DC3DFE9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86325" y="2781300"/>
            <a:ext cx="9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C1072-BB4A-42BA-BD8B-A8D70FFC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48175" y="3952875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52A395-3EB2-469D-AE2C-50653BCF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86325" y="3371850"/>
            <a:ext cx="9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F0D77-6D44-4657-9DC4-F3AB34E0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86325" y="3371850"/>
            <a:ext cx="5429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0100BF-545B-4C2A-96CB-C087C847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62575" y="33242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185CC8-F167-40B0-98BF-067930A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62575" y="33718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792E5-8643-4AE5-9AC5-AE2E6DBA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48525" y="3371850"/>
            <a:ext cx="571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F79E20-5A07-490C-92F6-64D7EBF4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53350" y="33242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F7A587-B03B-4750-A0EB-78950F5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53350" y="33718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1C7200-8EAC-4971-80B6-CA9A9CB5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71975"/>
            <a:ext cx="662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A、B 可独立处理，C 等待上游结果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A63248-CD37-4779-9222-EBCE571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29175"/>
            <a:ext cx="66389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86C67E-4FA1-4AE1-939F-F50DF77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6353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端口音频缓冲：共享内存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33594F-0EB5-4ADB-BF2F-AA006249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853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DA2625-1F45-4499-9AF4-00521CD2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826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JACK server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63E277-8EF4-4CF1-BDE7-1B4DA3E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721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Backend / Driver       连接图管理       周期与客户端同步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9B9108-CC49-4218-A7E3-E5599384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336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与 PreeAudio 对照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B647E9-97A4-4434-AAF6-7B1B7366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38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JACK 让处理者按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共同节奏协作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端口图决定执行依赖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PreeAudio 用处理簇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组织引擎内的计算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Manager 管生命周期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共同约束：周期预算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差异：图的组织尺度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及状态管理职责</a:t>
            </a:r>
          </a:p>
        </p:txBody>
      </p:sp>
    </p:spTree>
    <p:extLst>
      <p:ext uri="{BB962C8B-B14F-4D97-AF65-F5344CB8AC3E}">
        <p14:creationId xmlns:p14="http://schemas.microsoft.com/office/powerpoint/2010/main" val="238241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5DE605-79E8-4799-BD48-9F0B45A3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PipeWire：策略管理与媒体图执行分离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386BD-9AE3-429B-AB2B-8E23B947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控制层配置对象与连接，实时数据线程按图的依赖关系运行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927D0-93A0-4299-A7C0-B27D5F4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CD381-1A88-4C69-9CE4-1B6F769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依据官方 Session Manager / Graph Scheduling 文档重绘。此图展开同步图，省略异步节点和复杂设备路径。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87E06-3713-41B1-A726-AF16492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25CF4-4A48-4747-847E-113D14F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5BC8D-B08C-46E0-A22E-F80C6D6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WirePlumber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设备与连接策略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D7E0B-F71A-4A48-90F8-78739B70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544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9717C-3343-4094-9289-142FC4B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525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PipeWire 主线程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对象 / 连接 / 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19DFD-F83A-45D6-8190-C32D207A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7050" y="2562225"/>
            <a:ext cx="628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B6787-A0B8-486F-943E-332BFA5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29025" y="25146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704E8-D708-4DFF-A2D7-1ADD6CE2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29025" y="25622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DB5FF-4A04-4E7B-A595-2ED559B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853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控制层：策略决定目标，核心准备图与运行资源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1C793-B79B-4635-BCC8-123889F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8534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13F2D-95A2-4032-B769-C43F1807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826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实时数据线程：按依赖执行图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FFEBD-24FB-46AC-AE01-4D41DBEA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26814-4088-44E8-85AA-19772E4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43400"/>
            <a:ext cx="142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Driver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发起周期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F5377-B9D6-4CEF-BAC9-10FA7540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05300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32345-A658-413E-8AE0-ABA44FA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142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处理数据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773E0-C067-4624-BA9E-042439F2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05300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25245-D5D5-45BF-A803-7D58774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343400"/>
            <a:ext cx="142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B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消费结果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52E29-4A1B-4C2D-8793-53DFE0E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05300"/>
            <a:ext cx="12001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F065C-0D2C-4ACB-A893-CE99F020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009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04165-3AE4-4421-8F83-6A309FCD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7925" y="4667250"/>
            <a:ext cx="676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712AD-D4F1-404D-AAB6-EA163D4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57525" y="46196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ADA87-EC71-4B31-8F3E-5B1BFB9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57525" y="46672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CA94C-D018-4812-B85E-48E83F42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43450" y="4667250"/>
            <a:ext cx="676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A64D2-716D-42A8-B564-79C6AAA5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46196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EE9B1-5151-4560-A1B0-7F975097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53050" y="46672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D9E66-ABC0-4E67-A2DC-81DBC3D7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38975" y="4667250"/>
            <a:ext cx="676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D7F6AA-8713-4273-BE54-E570AFFD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8575" y="46196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61F0D-1C74-4826-8C99-BFB5511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48575" y="46672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E921CB-C1C6-4BFB-B2C2-BACD31C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2952750"/>
            <a:ext cx="9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E64F6-F033-4EEF-9D0E-6FB46BA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362902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6AA201-22D5-49E8-A42B-951A031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477000" y="362902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5284B9-4C69-4EED-9FC2-141B9670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预先配置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E28DF4-71D1-4A41-B770-D997CAF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05450"/>
            <a:ext cx="822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共享缓冲与 activation 记录，eventfd 传递运行唤醒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6B607-98C1-4472-AE04-29E76690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336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与 PreeAudio 对照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4DA77-B925-4D31-874E-51F6CBD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2238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 围绕通用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媒体图分配控制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与实时执行职责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PreeAudio 围绕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Manager / Cluster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组织场景处理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两者都有处理图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差异在组织尺度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和执行职责分配</a:t>
            </a:r>
          </a:p>
        </p:txBody>
      </p:sp>
    </p:spTree>
    <p:extLst>
      <p:ext uri="{BB962C8B-B14F-4D97-AF65-F5344CB8AC3E}">
        <p14:creationId xmlns:p14="http://schemas.microsoft.com/office/powerpoint/2010/main" val="1996111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3B1B2-D862-4EA3-9897-5473C473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设计理念与软件架构的横向对比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FDA7D-0168-4564-9338-E11C9DF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比较设计出发点、基本抽象、执行模型与动态控制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4589D-39DB-49BA-AC71-E0745B9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3A907-45A8-46A4-BC2E-769C201B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PreeAudio 按既有分享的 HPAE 公开实现描述。时延、CPU、功耗及音质优劣需要同平台、同路径实测。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B2B67-0572-4A56-A69B-46C5269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12FE7-7B47-4565-B166-B122184948F3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428875"/>
                <a:gridCol w="2428875"/>
                <a:gridCol w="2428875"/>
                <a:gridCol w="2428875"/>
              </a:tblGrid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PulseAudio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JACK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PipeWire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PreeAudio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</a:tr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设计重心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多流共享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动态设备管理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周期内协作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低延迟处理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通用媒体图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策略机制分离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场景化处理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系统状态协同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基本抽象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Stream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Sink / Source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Client / Port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处理回调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/ Port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Link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Manager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/ Cluster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按设备 I/O 线程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适配和汇合流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按依赖唤醒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JACK2 可并行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Driver 启动周期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数据线程执行图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消息处理后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驱动处理簇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动态控制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主循环与 I/O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通过消息协作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维护端口连接图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更新执行依赖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主线程配置图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会话层管理策略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Manager 管状态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上层策略协同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630238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架构取舍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缓冲、响应速度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设备时钟协调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周期预算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分支与关键路径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媒体图通用性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图与进程协调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场景处理复用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节点与状态管理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273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1E201-DBE5-4256-921D-E42E9BF5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素材参考：PulseAudio 的多级缓冲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62665-B751-4009-B9B8-27751639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原图呈现客户端、传输、服务端与 ALSA 的缓冲边界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01B94-A4E2-4B7C-BE2F-F1875D3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5DA8F-7434-45AD-817B-B9EEE8B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原图：Gavv，PulseAudio under the hood，Buffering（2017，面向 PA 11.1）。原图保留英文标签。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C4320-8B7D-4D3F-B699-849EC9A6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9A964-22D5-41F2-9057-A624E4661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cd9049dbc4db2"/>
          <a:stretch xmlns:a="http://schemas.openxmlformats.org/drawingml/2006/main"/>
        </p:blipFill>
        <p:spPr>
          <a:xfrm xmlns:a="http://schemas.openxmlformats.org/drawingml/2006/main">
            <a:off x="613814" y="2238375"/>
            <a:ext cx="10964372" cy="3267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D92D0-C7F2-4B3F-89CE-FC1AF54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传输缓冲、流缓冲与设备缓冲处于不同边界，时延分析需要沿整条路径展开</a:t>
            </a:r>
          </a:p>
        </p:txBody>
      </p:sp>
    </p:spTree>
    <p:extLst>
      <p:ext uri="{BB962C8B-B14F-4D97-AF65-F5344CB8AC3E}">
        <p14:creationId xmlns:p14="http://schemas.microsoft.com/office/powerpoint/2010/main" val="1381676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E8B78-FBF3-44F9-B9EB-3CD3063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JACK 附录：一个处理周期如何完成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F2FDA-E91F-49EA-9AF6-B00624CC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同步模式示例：数据依赖决定执行顺序，实时工作共享周期预算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03DB6-408E-45B1-ABE0-401231C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C391D-8EF2-4AB2-B953-C73546C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原图局部：Fons Adriaensen（2014），PDF 第 3 页。周期算例为教学假设，非实测端到端时延。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C511-F506-4331-BE1A-56955A1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0B0DF-AA11-43EB-8B73-4ED4121AD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95a8941524b66"/>
          <a:stretch xmlns:a="http://schemas.openxmlformats.org/drawingml/2006/main"/>
        </p:blipFill>
        <p:spPr>
          <a:xfrm xmlns:a="http://schemas.openxmlformats.org/drawingml/2006/main">
            <a:off x="609600" y="2205903"/>
            <a:ext cx="6477000" cy="2208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2A2E5-60C1-49F8-9B35-4AB2970C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实时回调承担一块计算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AC928-F877-4BFA-B2A4-210F077D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14625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输入端口缓冲</a:t>
            </a:r>
          </a:p>
          <a:p xmlns:a="http://schemas.openxmlformats.org/drawingml/2006/main">
            <a:pPr algn="l">
              <a:def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process(nframes)</a:t>
            </a:r>
          </a:p>
          <a:p xmlns:a="http://schemas.openxmlformats.org/drawingml/2006/main">
            <a:pPr algn="l">
              <a:def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输出端口缓冲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784DC-8351-4461-BB85-4465B3C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7670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回调内避免阻塞操作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A20BE-7190-4181-B499-CE0A98D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17FE6-B0E5-441F-9257-83CAB78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采集数据就绪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F5A17-F73B-4D04-9631-214AF8D2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5067300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4FD56-32CF-4126-9438-E3C001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43275" y="5019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EFA6C-F47D-4475-B0C5-B9AF9FF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43275" y="50673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CE5B5-0913-460B-AE9F-EDDE84C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720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28807-A683-40AE-8065-98F6A569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0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激活可运行客户端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EB5A0-A3F4-467C-B7FF-4283C1BF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5067300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BD176-2FCF-4883-A5F2-065478C7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3625" y="5019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64B46-1A73-4003-96FC-C8F0766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43625" y="50673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88A5F-B0F4-45EE-930E-71740C0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720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394B6-88DC-4D23-8E4B-799BA07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传播下游依赖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1DDEB-DA36-4A02-B4F6-CB94E532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2050" y="5067300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15C55-77FF-43F2-9B55-B2F8997D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43975" y="5019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840FF-FCF6-49BA-B4FF-F9F23AA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43975" y="50673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02FEF-E695-4794-B3C7-41A2252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03148-E22E-4663-B207-FBFDFBCE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0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提交设备输出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5C006-14EB-401A-8127-B060C20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N = 128，fs = 48 kHz：名义周期约 2.67 ms，预算由整张图共同使用</a:t>
            </a:r>
          </a:p>
        </p:txBody>
      </p:sp>
    </p:spTree>
    <p:extLst>
      <p:ext uri="{BB962C8B-B14F-4D97-AF65-F5344CB8AC3E}">
        <p14:creationId xmlns:p14="http://schemas.microsoft.com/office/powerpoint/2010/main" val="28062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158DC1-9695-4BEA-8340-22CC5B9A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JACK 附录：串行顺序与依赖驱动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4B645-A10E-41C6-881D-9CF6EAC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简化依赖图中，A 与 B 独立，C 等待 A、B，D 等待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4EC21-302E-4C48-BFD5-5F6EAEC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35F9-CBFC-47AC-AFB0-D5E31236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教学算例：A=2、B=3、C=2、D=1 个时间单位。忽略同步、缓存和调度开销，不是性能实测。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0691-A04B-4B05-8F2D-E984FB6B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4E6AA-4E88-469C-B1B4-BD4E543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JACK1 经典模型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C6247-42DF-4C6F-80BE-A0545F9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顺序执行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8259-F74F-4C8D-8FE5-17C3968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9A22C-A0A7-4A90-A35E-31D3F0F8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9729A-E1F3-4405-8CEE-3A70AC2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623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B3975-A48A-4D6F-8EDE-315122B9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02E69-F826-4716-B859-A75BEFDB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73E36-7074-4AE9-BCC1-3247270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07DB4-6782-4793-8370-1B57434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01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C6377-B1C2-44D8-8C35-915D9E3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32C36-2411-4EDA-A0B9-A990413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0039F-9FD3-46A0-9747-EF4ED3C7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C5A44-A7F9-4A69-B7E9-B911CBC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79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D18CB-AC9B-4DFF-B57E-AA4571C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8920E-7357-4A71-8235-A478DD5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818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1EB4B-DAEC-4FCF-B534-AE5670B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B6C86-D464-4A09-B432-E65FD981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7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878FE-6C15-48C8-A457-8A471355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41791-DA8B-4616-BB80-404AC3E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2590800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18C5F-0A02-4D29-837F-5A10C3F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DEA19-B86B-4109-9EA5-01CE23D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860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73938-ACF9-4D56-B849-CB2BCCC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241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6819E-0D8F-4FF7-B0F0-5480BF2D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860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443C6-47D2-4E6E-B0CD-87B182F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194DE-DCFA-4196-98E0-2DAF003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685831-7B26-4830-BF91-3EDA749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B03A6-B512-4158-86B3-3823C95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09B4E-3DF4-4125-9C12-F10C3A9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0B63E-C423-4E2E-9BD7-7793888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JACK2 依赖驱动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805655-6C6B-4E81-9437-D2C0E662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工作核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D742E8-372A-4C29-931B-0F95F15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638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工作核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F886DE-B3D4-4680-898F-75729FAE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4324350"/>
            <a:ext cx="5791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E966AE-CF32-4CCA-B964-38E58C18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4933950"/>
            <a:ext cx="5791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F04CB-8C2F-4956-B50A-2BBAD033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24325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D20D58-6BD4-4B00-8D00-011B24A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624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7DFEC9-0FAB-4CB7-B7C4-9CBBEEB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339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B10604-BE01-4398-ABB5-6A661C8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720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08DB9E-39F8-4141-BD11-4B78D56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24325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18DE0C-826F-4941-8C09-661CC0A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624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92A13F-D253-472F-B37D-1BB9F30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24325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58AD67-4655-4FD6-AD8F-D2694B21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62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BE6791-513C-42F4-8BA5-45EAADE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43375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等待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2D7838-EB8D-440A-A4B8-F587F80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8 单位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7AB0CE-D84B-4AAF-8AFE-AE068C4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862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6 单位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7EE033-6346-4679-BF1E-84F67AAC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57725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关键路径</a:t>
            </a:r>
          </a:p>
          <a:p xmlns:a="http://schemas.openxmlformats.org/drawingml/2006/main">
            <a:pPr algn="l">
              <a:defRPr sz="18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max(A,B)+C+D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D451F1-AD35-4811-A504-43ECCA9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图访问采用无锁技术，降低连接变化对实时执行的干扰</a:t>
            </a:r>
          </a:p>
        </p:txBody>
      </p:sp>
    </p:spTree>
    <p:extLst>
      <p:ext uri="{BB962C8B-B14F-4D97-AF65-F5344CB8AC3E}">
        <p14:creationId xmlns:p14="http://schemas.microsoft.com/office/powerpoint/2010/main" val="1852189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70115C-6AAD-4E74-B5B4-14077C4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JACK 附录：同步与异步的交付取舍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499C5-36AF-468A-9FFB-777239F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并行度描述周期内怎样执行，同步方式描述何时交付计算结果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3D84-6942-418F-A8FC-EA1431D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C50-5D7B-44D1-BC80-D1944E0D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依据 JACK2 README 和作者论文。异步模式增加一个处理周期的流水线延迟，不等于端到端总时延。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E9BEA-6151-4A19-8318-95B9F88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39D8B-DD3F-46C0-9969-A7DEF26C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02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周期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71609-7AD5-4FE3-A391-C14028D2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周期 n+1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5F7B3-8585-4E28-B2E4-593650B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02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周期 n+2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4A725-3F56-4688-A24F-C511C63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同步模式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C1690-E5A8-4620-AE84-805FCFB7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等待当期图完成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46C3D-85DD-458C-A18F-BB71E4E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异步模式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799FC-BF41-4FFB-A1D7-ED211DA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2257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使用前一周期结果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D539B-9FCA-4DDE-BA47-BE692D2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71775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4DC92-B05C-4A24-AF84-881DD57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D99B6-2188-4DEA-82EF-12E4D4B6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2397C-3204-486B-9DFC-F366885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n−1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A1CD4-C102-4695-A22D-A6758D3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3200400"/>
            <a:ext cx="304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D9C3A-60A3-492B-A937-807575C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8325" y="31527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5AA5E-80E5-480D-B850-A4C0095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48325" y="32004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9D2F4-B29E-406F-AC01-8318990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4695825"/>
            <a:ext cx="304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16E4A-56F2-47EF-A55B-03C6265F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8325" y="46482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0E092-8C19-44EF-9E8B-99224A7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48325" y="46958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5EDA2-F39E-48E9-9961-B81CF52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71775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588B8-C4DE-41FF-96DA-C008B480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n+1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n+1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9A807-98E7-476B-BF37-4E2A015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9C597-8090-4835-A71C-D5EAEDB8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n+1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3A2932-5C44-46EF-B72B-D916D4C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3200400"/>
            <a:ext cx="304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C1D9C-5D90-4431-BBDD-DC45A91F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0575" y="31527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3E889-C5C1-4427-B968-EF45DB6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10575" y="32004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FB86F-3FAE-448D-AB41-E89440B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4695825"/>
            <a:ext cx="304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2D2C2-1440-412D-A1B1-597942D0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0575" y="46482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FE3B3-7A9A-4FD0-B652-2161F339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10575" y="46958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A4727-DC4B-4301-99BC-3C4C4697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71775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47F7C1-4975-4918-A590-92962737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n+2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n+2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4E8EC2-4122-4993-B3B7-23E12B2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775F5D-E420-44A4-8CF1-70F3B274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 n+2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写出 n+1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EC1202-9599-4B50-8752-935E88D4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同步：当前结果直接参与交付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9FF78-AE10-4371-B1DD-993092A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400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异步：以一个周期等待换取交付解耦</a:t>
            </a:r>
          </a:p>
        </p:txBody>
      </p:sp>
    </p:spTree>
    <p:extLst>
      <p:ext uri="{BB962C8B-B14F-4D97-AF65-F5344CB8AC3E}">
        <p14:creationId xmlns:p14="http://schemas.microsoft.com/office/powerpoint/2010/main" val="2042788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E93FC0-83A9-4C12-8C74-D832702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 附录：会话策略如何改变运行图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56A45-C3E0-4FDB-B721-11F29721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设备和用户偏好变化先转成对象配置与连接决策，再由实时图执行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6267-59FF-4709-9B25-1022606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82DD-B1DB-48DC-87C4-25CC8DA5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依据 WirePlumber 官方会话管理说明。图示为职责关系，不承诺设备切换无中断或所有模块的固定调用顺序。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559DC-FF3A-44C4-82E4-86D46DE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A8F7F-7631-4135-A4F2-929D59BB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事件与策略层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39BA3-B8EF-48E9-87B1-B7835B6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DD002-4481-4F4E-99E0-AEACD0A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设备 / 偏好变化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B6E2D-7ABA-4EDE-A78A-755D377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311467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D0F91-6D2B-4949-844B-6796A38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43275" y="30670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0756B-1AB2-4C12-870D-B6E3B89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43275" y="3114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91B0A-1380-4AA6-BE8F-65F314E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90825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27B2F-DE48-42A6-9319-C8F5846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289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选择配置与目标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56141-F188-4CE5-B2DD-BFB0FD7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311467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81AE4-9D81-4038-927D-EB69656E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3625" y="30670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85CCA-C680-487F-9966-4275C0F8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43625" y="3114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36D2C-61A3-4753-A437-6B6C8D9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90825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CE325-DEBC-4D2F-84A0-93739083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配置节点与端口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F8C36-EC1C-47B9-B2AC-012BFDA9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2050" y="311467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24AF4-D77D-4BF4-9184-30C9C2D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43975" y="30670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65E44-FC19-43CC-A98D-E4B41E89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43975" y="31146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F0E58-ACF8-454A-8CCC-3D09514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90825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E9D83-319B-41EF-A973-C7C81EEF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289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创建或调整连接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B3C2A-0F3C-49C9-ADD7-B6F96BD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WirePlumber 持续监视事件，并维护设备、节点、连接与元数据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0E78B-811A-42DB-8D0A-2106968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3438525"/>
            <a:ext cx="9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ECCAE-BAD0-4F10-886F-2172C3BA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436245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19766-93A0-46E6-A33B-2988490F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287000" y="4362450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4F2D6-DE89-426B-B485-E712F04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准备图和运行资源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BE8C5-5FF8-4C79-A6A7-5D3D6F0B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6721B-5EAD-4E1D-BB93-DFF611AD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070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实时执行层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CE200-815D-40F1-B70B-B86F0B25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149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41CAC-FFA4-4420-97B3-B2257695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5300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流节点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6C76F-A4B7-4D35-B35F-978F9CB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149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712AFB-EF51-4E62-9BDA-7CB372E5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5300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处理节点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A4B7E-ED3E-4B57-9E43-E47ABDE6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C2479-0AB4-4D0D-9489-090F2693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5300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设备节点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159E1-18EE-4FA5-BD63-A89D9EDE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24225" y="5133975"/>
            <a:ext cx="1276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ABDD7-B1CB-4E19-BCCB-14B6D43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50863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89F42D-7140-4EF3-8A8A-7E6828C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33900" y="51339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72086-C1F0-44C4-953D-35FB5069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5133975"/>
            <a:ext cx="1733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83ABA-6FCD-4C94-9D06-E731859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3950" y="50863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A1473-B4B6-4EAA-8882-D9ED083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43950" y="51339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C07911-BBBA-45EB-9137-9B11BC3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架构重点：策略决定图如何组织，实时层按准备好的资源持续处理数据</a:t>
            </a:r>
          </a:p>
        </p:txBody>
      </p:sp>
    </p:spTree>
    <p:extLst>
      <p:ext uri="{BB962C8B-B14F-4D97-AF65-F5344CB8AC3E}">
        <p14:creationId xmlns:p14="http://schemas.microsoft.com/office/powerpoint/2010/main" val="970530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16A665-79F6-4817-87A8-B8E619B8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 附录：依赖计数决定节点何时运行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4ADA0-1D39-45DD-BCDE-8C5ABF34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Driver 发起周期，节点等待上游完成，再把运行条件传递给下游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C8D31-0149-449A-B470-6892BBD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E51F3-BD0E-468C-8E54-11D7E08F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仅展开同步图。pending 数字表示 Driver 已发起周期后仍未满足的上游依赖，省略 Driver 自身计数与反馈连接。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C8F24-1197-45A1-9690-4609AAF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C0073-5D66-4FD3-A092-5CD3F62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515D2-E9C1-4EF5-B845-FA0C193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Driver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启动本周期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77014-2171-4382-A3F2-914F413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F25E1-7D67-4F60-BC46-B139646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76475"/>
            <a:ext cx="2266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上游依赖就绪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ABAD3-C42B-46D7-B038-E5253FD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71900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37D35-8C81-4F28-976E-27EE5E9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0000"/>
            <a:ext cx="2266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B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上游依赖就绪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9B25F-DE95-4395-922F-4AAD60F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0375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B64A5-9EED-40D3-9CB9-FA2C1AB3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3847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C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等待 A 与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F27F7-08DD-45DF-9D0E-7BEFACEA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438525"/>
            <a:ext cx="342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12C6F-CC6E-499F-BB16-8CFCFD9B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638425"/>
            <a:ext cx="95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2115E-E025-4BCA-A861-F49E65EC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638425"/>
            <a:ext cx="457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D1467-E9FA-4FD6-92AD-C941B902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33775" y="25908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44F7A-BDAD-43C1-9D48-2D465AB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33775" y="26384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802A9-3C80-44D8-9877-92125E2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4171950"/>
            <a:ext cx="457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A63F0-4421-4DD2-BA9F-3DB29224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33775" y="41243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492F6-41AD-446C-A784-BA657816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33775" y="41719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7C496-5DA1-4F33-8DAC-8E79387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7900" y="2638425"/>
            <a:ext cx="95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AFB32-D76C-46EE-A0CF-E98CC64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2638425"/>
            <a:ext cx="95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95E88-9BF8-440E-83C3-48E5790D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7900" y="4171950"/>
            <a:ext cx="95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3FB1E-EDDF-4AEA-AE3B-3987AB06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3438525"/>
            <a:ext cx="9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3CFE6-5166-4C16-8394-1967BCC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3438525"/>
            <a:ext cx="971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AE142-0B20-4640-BC59-A171367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15275" y="33909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08760-5386-4B68-8DE2-88A68716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15275" y="34385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858B9-005F-4BDB-92CA-0E3D0B83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62175"/>
            <a:ext cx="471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完成后传播就绪条件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ABB30-3336-4723-8215-967F54A9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6515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465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46515E"/>
                </a:solidFill>
                <a:latin typeface="Hiragino Sans GB"/>
                <a:ea typeface="Hiragino Sans GB"/>
                <a:cs typeface="Hiragino Sans GB"/>
              </a:rPr>
              <a:t>pending =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864DE-DDF2-4D57-9005-F91C35D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A、B 均未完成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02409-8E74-4C6F-89C3-5917B76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71900" y="525780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1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91C98-1EE1-4605-A0F9-F0B0A44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52101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1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8FFD9-3603-4E61-8FCE-C4966382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1950" y="52578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1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E8EB2-75A1-4C25-A405-01DE1EDF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pending =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A0490-BB56-43E5-899E-4BCAE258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62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A 完成，仍等 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2E9C26-69F1-4689-B96F-62D2644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700" y="5257800"/>
            <a:ext cx="466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E02F6-FFCB-48B3-AF47-DB4255E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0" y="52101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EDDCFC-C302-4836-93E8-01626A73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05750" y="525780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29DF52-4CE2-437D-86F1-20AFD92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pending = 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EE605B-A0DD-4F81-A5C2-7F87030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62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B 也完成，C 可运行</a:t>
            </a:r>
          </a:p>
        </p:txBody>
      </p:sp>
    </p:spTree>
    <p:extLst>
      <p:ext uri="{BB962C8B-B14F-4D97-AF65-F5344CB8AC3E}">
        <p14:creationId xmlns:p14="http://schemas.microsoft.com/office/powerpoint/2010/main" val="16337825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60BD56-E2E1-480B-8B1E-B7251F1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 附录：跨进程的数据与唤醒协作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C05F4-6E86-4FD0-A8A2-78FA6536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对象配置走控制通信，媒体计算共享缓冲，节点完成后可直接触发后继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F5E6F-2F1D-4FF4-95C6-5C76936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69217-08BA-45B7-B3DA-3D3AD2E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图为同机跨进程处理的简化模型。共享内存降低传输复制，格式转换、混音及设备路径仍可能需要复制。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988DC-88A5-41A3-863C-CC8F4498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A047E-2EEF-4B43-8751-353C6A11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89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0CEBE-09FB-4B09-A5D2-5185DA07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782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PipeWire 主线程：配置对象、连接与共享资源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EDD0E-6220-4546-8AC3-773542E9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762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47F7-16FA-45CA-87BE-7048C2EC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进程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5F0B3-9DCA-4A47-A58C-C2119AC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9F087-DD1D-4E0E-A336-A0B72E5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A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实时处理线程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753E8-0701-46A3-97EB-D77A93C2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24250"/>
            <a:ext cx="2762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CD7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5C215-D855-4A52-B156-81B5C6E1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进程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610D1-D209-4089-BC73-A81F211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909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A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86D1D-F78A-4B7A-93AC-8C10E68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290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节点 B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实时处理线程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FD575-10DD-41A9-9716-F76E459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3848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1430">
            <a:solidFill>
              <a:srgbClr val="3478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EA8EE-4972-4DC7-9019-C99300C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90925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共享资源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CC5A4-FD2E-4743-A915-0A29383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34480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媒体缓冲 / I/O 区</a:t>
            </a:r>
          </a:p>
          <a:p xmlns:a="http://schemas.openxmlformats.org/drawingml/2006/main">
            <a:pPr algn="ctr"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activation 依赖与状态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FEC64-6EE5-4993-9203-5CA2AB5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0725" y="2724150"/>
            <a:ext cx="95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1030C-786A-40C7-B1D4-BAE1F270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43100" y="345757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14C27-6A79-4EB4-AA79-88A156C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990725" y="345757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98081-2403-4835-9C2E-7818394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01275" y="2724150"/>
            <a:ext cx="95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4AACA-0C65-43F9-8AE9-1A380477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53650" y="345757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AAF4D-9627-4CD8-A1EC-1165B3B5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201275" y="3457575"/>
            <a:ext cx="476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78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30747-AD2A-4153-AEF6-43B55911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622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IPC / 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F96B0-2615-4C0C-A3AA-04F2609C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622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IPC / 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D6BE2-28EC-435A-B4D1-06E5E88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4410075"/>
            <a:ext cx="800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00619-4F7C-4D74-AD70-377195DA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43624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FDE23-4F10-4D5F-996A-28D64996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05275" y="44100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CC9B3-6E40-48BB-B096-2076CFF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0050" y="4410075"/>
            <a:ext cx="800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04673-612C-4B0D-93B0-F499F8E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3475" y="43624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238BA-41CA-4F58-9BE7-C5FD37B9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53475" y="441007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708BB-2E4D-4AB4-A0EA-712DB18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0725" y="5467350"/>
            <a:ext cx="8210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AB623-26B5-48D1-85C2-20CD3A5E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34600" y="5419725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6ECD09-4D67-4F51-A0F8-AF45646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134600" y="5467350"/>
            <a:ext cx="66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A5A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548325-2CC2-4AE4-BCAA-24C8C6E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81650"/>
            <a:ext cx="7267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eventfd：完成后唤醒后继，通知与样本数据分开</a:t>
            </a:r>
          </a:p>
        </p:txBody>
      </p:sp>
    </p:spTree>
    <p:extLst>
      <p:ext uri="{BB962C8B-B14F-4D97-AF65-F5344CB8AC3E}">
        <p14:creationId xmlns:p14="http://schemas.microsoft.com/office/powerpoint/2010/main" val="1764903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EABAA-02EB-46D1-AAD6-831E9827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PipeWire 附录：异步 Link 的周期隔离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4DEFE-D6A2-4A95-AD53-FC8B6D4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异步节点与同步依赖链解耦，双槽缓冲隔开本周期的读写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37BB5-C93A-4422-B831-A393EC73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76804-5B53-4503-9EBC-8F61677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一般异步 Link 的稳态示意，周期 0 前已有数据。每条异步 Link 增加一个图周期，Driver 输出等特殊分支未展开。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C762E-3E32-4CAB-B587-83DA86CE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9756A-F7A1-4F39-88AB-7F4B06759CF8}"/>
              </a:ext>
            </a:extLst>
          </p:cNvPr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2971800"/>
                <a:gridCol w="2971800"/>
                <a:gridCol w="2971800"/>
              </a:tblGrid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周期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周期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周期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T w="9525">
                      <a:solidFill>
                        <a:srgbClr val="CCD7E3"/>
                      </a:solidFill>
                      <a:prstDash val="solid"/>
                    </a:lnT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10243A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生产节点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写槽 1：数据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写槽 0：数据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写槽 1：数据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消费节点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E3"/>
                      </a:solidFill>
                      <a:prstDash val="solid"/>
                    </a:lnL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读槽 0：旧数据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读槽 1：数据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024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读槽 0：数据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E3"/>
                      </a:solidFill>
                      <a:prstDash val="solid"/>
                    </a:lnR>
                    <a:lnB w="9525">
                      <a:solidFill>
                        <a:srgbClr val="CCD7E3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87129-E36C-4EE9-B1C5-0EEAD79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获得的自由度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FE4F6-DEAB-4AB7-BDBF-3ED067CE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异步节点与同步图的完成依赖解耦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F794C-29D6-492B-8C8C-4DC7FC0E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付出的代价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E22ED-3130-4D47-9A50-4C12A638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10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每条异步 Link 多一个图周期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CAB12-ED75-4BA8-B8EF-1A51C5F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JACK2 的服务器级激活与 PipeWire 的节点 / Link 级异步，作用范围不同</a:t>
            </a:r>
          </a:p>
        </p:txBody>
      </p:sp>
    </p:spTree>
    <p:extLst>
      <p:ext uri="{BB962C8B-B14F-4D97-AF65-F5344CB8AC3E}">
        <p14:creationId xmlns:p14="http://schemas.microsoft.com/office/powerpoint/2010/main" val="18102901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23E4A-04DF-4D68-A6C2-E0C063B6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素材参考：PipeWire 作者的整体架构图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E593-35AC-4DB3-86FF-6E216DC6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Wim Taymans，FOSDEM 2024，Overview 原图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138B9-B581-43AE-AB9B-14B7CF69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8097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B1C88-7AE5-46B5-9455-7927B563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来源：FOSDEM 2024，PipeWire State of the Union，PDF 第 3 页。此页保留原图，适合作为放大查阅的备份素材。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DE4C6-8AD2-4F8A-9C09-C8182FA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28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3AE72-D48E-40C4-8193-2559BC59C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7aa0c0e464c4d"/>
          <a:stretch xmlns:a="http://schemas.openxmlformats.org/drawingml/2006/main"/>
        </p:blipFill>
        <p:spPr>
          <a:xfrm xmlns:a="http://schemas.openxmlformats.org/drawingml/2006/main">
            <a:off x="3276600" y="1952625"/>
            <a:ext cx="563880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6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2026-10-22T04:06:11.3970000Z</dcterms:created>
  <dcterms:modified xsi:type="dcterms:W3CDTF">2026-10-22T04:06:11.3970000Z</dcterms:modified>
</coreProperties>
</file>
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71a408173a42c9" /><Relationship Type="http://schemas.openxmlformats.org/officeDocument/2006/relationships/extended-properties" Target="/docProps/app.xml" Id="R21ab0ae155314bca" /><Relationship Type="http://schemas.openxmlformats.org/officeDocument/2006/relationships/officeDocument" Target="/ppt/presentation.xml" Id="R00a593471c1648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ef210df9104c8e"/>
  </p:sldMasterIdLst>
  <p:notesMasterIdLst>
    <p:notesMasterId xmlns:r="http://schemas.openxmlformats.org/officeDocument/2006/relationships" r:id="R1706d31dd2c24b7e"/>
  </p:notesMasterIdLst>
  <p:sldIdLst>
    <p:sldId xmlns:r="http://schemas.openxmlformats.org/officeDocument/2006/relationships" id="256" r:id="R6011361149bc4e6a"/>
    <p:sldId xmlns:r="http://schemas.openxmlformats.org/officeDocument/2006/relationships" id="257" r:id="R22f7aa404b4b4d10"/>
    <p:sldId xmlns:r="http://schemas.openxmlformats.org/officeDocument/2006/relationships" id="258" r:id="Rab358cd03c144b76"/>
    <p:sldId xmlns:r="http://schemas.openxmlformats.org/officeDocument/2006/relationships" id="259" r:id="R7e266db854d44797"/>
    <p:sldId xmlns:r="http://schemas.openxmlformats.org/officeDocument/2006/relationships" id="260" r:id="R407aad387a394433"/>
    <p:sldId xmlns:r="http://schemas.openxmlformats.org/officeDocument/2006/relationships" id="261" r:id="R72234522c5f741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50d2947c364be9" /><Relationship Type="http://schemas.openxmlformats.org/officeDocument/2006/relationships/slideMaster" Target="/ppt/slideMasters/slideMaster1.xml" Id="R38ef210df9104c8e" /><Relationship Type="http://schemas.openxmlformats.org/officeDocument/2006/relationships/notesMaster" Target="/ppt/notesMasters/notesMaster1.xml" Id="R1706d31dd2c24b7e" /><Relationship Type="http://schemas.openxmlformats.org/officeDocument/2006/relationships/presProps" Target="/ppt/presProps.xml" Id="R9cc3b24d4cc24311" /><Relationship Type="http://schemas.openxmlformats.org/officeDocument/2006/relationships/tableStyles" Target="/ppt/tableStyles.xml" Id="R080fad5f48534165" /><Relationship Type="http://schemas.openxmlformats.org/officeDocument/2006/relationships/slide" Target="/ppt/slides/slide1.xml" Id="R6011361149bc4e6a" /><Relationship Type="http://schemas.openxmlformats.org/officeDocument/2006/relationships/slide" Target="/ppt/slides/slide2.xml" Id="R22f7aa404b4b4d10" /><Relationship Type="http://schemas.openxmlformats.org/officeDocument/2006/relationships/slide" Target="/ppt/slides/slide3.xml" Id="Rab358cd03c144b76" /><Relationship Type="http://schemas.openxmlformats.org/officeDocument/2006/relationships/slide" Target="/ppt/slides/slide4.xml" Id="R7e266db854d44797" /><Relationship Type="http://schemas.openxmlformats.org/officeDocument/2006/relationships/slide" Target="/ppt/slides/slide5.xml" Id="R407aad387a394433" /><Relationship Type="http://schemas.openxmlformats.org/officeDocument/2006/relationships/slide" Target="/ppt/slides/slide6.xml" Id="R72234522c5f741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83553473ae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51aacc42a4432" /><Relationship Type="http://schemas.openxmlformats.org/officeDocument/2006/relationships/notesMaster" Target="/ppt/notesMasters/notesMaster1.xml" Id="Rf3880ab1ebf043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bd20f2b6f40f2" /><Relationship Type="http://schemas.openxmlformats.org/officeDocument/2006/relationships/notesMaster" Target="/ppt/notesMasters/notesMaster1.xml" Id="Ra48c95e32a8d49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08efd1198f4391" /><Relationship Type="http://schemas.openxmlformats.org/officeDocument/2006/relationships/notesMaster" Target="/ppt/notesMasters/notesMaster1.xml" Id="R346438218a1947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46e40601249bb" /><Relationship Type="http://schemas.openxmlformats.org/officeDocument/2006/relationships/notesMaster" Target="/ppt/notesMasters/notesMaster1.xml" Id="Rc8e6ce64994547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dcad20b3745c0" /><Relationship Type="http://schemas.openxmlformats.org/officeDocument/2006/relationships/notesMaster" Target="/ppt/notesMasters/notesMaster1.xml" Id="Rb397e0291a19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1b435656c243f0" /><Relationship Type="http://schemas.openxmlformats.org/officeDocument/2006/relationships/notesMaster" Target="/ppt/notesMasters/notesMaster1.xml" Id="R0d189aee884a46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看图顺序</a:t>
            </a:r>
          </a:p>
          <a:p xmlns:a="http://schemas.openxmlformats.org/drawingml/2006/main">
            <a:r>
              <a:t>先指下方三个具体类，再指向上方抽象类，最后看左侧调用者。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现场讲述</a:t>
            </a:r>
          </a:p>
          <a:p xmlns:a="http://schemas.openxmlformats.org/drawingml/2006/main">
            <a:r>
              <a:t>HPAE 里有普通播放、快速播放和 Offload 等不同实现。它们都要管理播放流，但内部处理方式不一样。我们先看一个问题：上层用这些对象的时候，需要把每一种实现都了解一遍吗？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看图下方，这三个框就是三种具体的 Manager。沿着线往上看，它们都继承了 IHpaeRendererManager。空心三角指向父类。父类把 Start、Process 这些操作定义下来，具体怎么启动、怎么处理，由下面各个实现负责。方法后面的“等于零”，在 C++ 里表示这是一个纯虚函数，需要派生类提供实现。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这样，上层就可以拿着同一种接口调用 Start，不用在每次调用前再判断一遍，这个对象到底是普通版还是 Fast 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那对象最开始由谁创建？看左边的 HpaeManager。它调用中间这个 CreateRendererManager，把输出端的信息传进去。函数选好具体实现，再以父类的智能指针返回。创建出来的对象有区别，调用者拿到的接口是统一的。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这里有个容易看错的地方：源码把创建函数放在 IHpaeRendererManager 自己身上，用 static 标了出来。因此，图上没有另外一个叫 Factory 的类。我们说它有工厂的作用，指的是这段代码集中承担了选择和创建对象的工作。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下面再看一次实际创建时，这个选择怎么发生。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备答</a:t>
            </a:r>
          </a:p>
          <a:p xmlns:a="http://schemas.openxmlformats.org/drawingml/2006/main">
            <a:r>
              <a:t>若被问到“这是什么工厂”：这里按简单工厂来讲。静态函数内部根据条件构造具体产品，并非通过 Creator 子类重写创建方法的 GoF Factory Method。图中省略了其他产品分支和上层基类。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https://gitcode.com/openharmony/multimedia_audio_framework/blob/75806a3e619d76a98e02b4984f08da8b0727d441/services/audio_engine/manager/include/i_hpae_renderer_manager.h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https://gitcode.com/openharmony/multimedia_audio_framework/blob/75806a3e619d76a98e02b4984f08da8b0727d441/services/audio_engine/manager/src/i_hpae_renderer_manager.cpp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https://gitcode.com/openharmony/multimedia_audio_framework/blob/75806a3e619d76a98e02b4984f08da8b0727d441/services/audio_engine/manager/src/hpae_manager.cpp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 分半钟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看图顺序</a:t>
            </a:r>
          </a:p>
          <a:p xmlns:a="http://schemas.openxmlformats.org/drawingml/2006/main">
            <a:r>
              <a:t>从左到右走一遍，再沿右侧三条分支分别指示。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现场讲述</a:t>
            </a:r>
          </a:p>
          <a:p xmlns:a="http://schemas.openxmlformats.org/drawingml/2006/main">
            <a:r>
              <a:t>假设现在要为一个输出端建立播放 Manager。左侧的调用者先准备好 sinkInfo，里面包括设备类别、设备名等信息，然后交给中间的创建函数。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函数会检查这些信息。比如，符合图上的 primary_mmap 这一类条件，就创建 Fast Manager；符合 offload 相关条件，就创建 Offload Manager；前面那些分支都没有匹配上，最后走默认分支，创建普通 Manager。源码还有别的分支，这页只保留了三种。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所以，从调用者的角度看，它做的事情很简单：传入输出端信息，拿回一个能用的 Manager。至于里面调用哪个构造函数，集中在这里决定。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这会给后续修改带来什么方便？假设又增加了一种播放实现，我们可以到这个入口里补上选择条件，其他通过统一接口使用 Manager 的地方，就有机会沿用原来的调用代码。需要检查的创建逻辑集中在一处，比较容易找，也容易核对有没有漏掉某种类型。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当然，这个创建函数本身还是要维护，分支也可能继续增加。工厂模式并没有让变化消失，它只是让创建对象这件事有一个明确的落点。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这一步发生在建立 Manager 的时候。Manager 建好之后，上层再调用它提供的流管理接口。接下来就看这些接口怎样和 Service 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备答</a:t>
            </a:r>
          </a:p>
          <a:p xmlns:a="http://schemas.openxmlformats.org/drawingml/2006/main">
            <a:r>
              <a:t>primary_mmap 只是 Fast 分支的一个条件，源码还包括其他 mmap、VoIP 等类别。不要据此推断应用每次点击播放都会重新创建 Manager，也不要把创建分支当成设备切换的完整流程。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https://gitcode.com/openharmony/multimedia_audio_framework/blob/75806a3e619d76a98e02b4984f08da8b0727d441/services/audio_engine/manager/src/i_hpae_renderer_manager.cpp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https://gitcode.com/openharmony/multimedia_audio_framework/blob/75806a3e619d76a98e02b4984f08da8b0727d441/services/audio_engine/manager/src/hpae_manager.cpp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分半钟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看图顺序</a:t>
            </a:r>
          </a:p>
          <a:p xmlns:a="http://schemas.openxmlformats.org/drawingml/2006/main">
            <a:r>
              <a:t>先看左右两组继承关系，再从左下角顺着蓝色折线走到右侧。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现场讲述</a:t>
            </a:r>
          </a:p>
          <a:p xmlns:a="http://schemas.openxmlformats.org/drawingml/2006/main">
            <a:r>
              <a:t>Service 这一侧已经有一套流管理接口。比如，启动播放用的是左上角的 StartRender，传进去一个 streamIndex。HPAE 引擎这一侧，Start 接收的则是流类型和 sessionId。两边的接口长得不一样，需要有人把它们接起来。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先看左边的继承关系。HpaeAdapterManager 实现了 IStreamManager，所以 Service 可以继续按 IStreamManager 的方式使用它。这里的关键是，它对上层提供什么接口，以及它在内部怎样完成这个接口要求的操作。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我们跟着一次启动走。调用 StartRender 以后，适配管理器先根据 streamIndex，在自己的流表里找到对应对象，再调用这个对象的 Start。图中间的蓝色折线表示，它持有并使用的是 IRendererStream 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运行时，这个接口背后的对象可以是下面的 HpaeRendererStreamImpl。它收到 Start，再向右调用 HPAE 的管理接口，把播放类型和会话 ID 传进去。这样，Service 发出的一次启动操作，就沿着这两层对象传到了引擎。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这个例子里，适配工作分在管理器和流包装对象两层：管理器接住上层的流管理调用，流对象再衔接引擎操作。以后读源码时，顺着这条线看，就能分清每一层负责哪一段。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这种安排的用处，是把两套接口之间的差异收在接入层。Service 不需要直接理解引擎的全部对象结构，引擎接口的具体用法也有地方集中处理。这里讲的适配器，主要就是这个作用。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接口接好以后，声音进入引擎内部。下一页看单个处理节点里的代码怎么复用。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备答</a:t>
            </a:r>
          </a:p>
          <a:p xmlns:a="http://schemas.openxmlformats.org/drawingml/2006/main">
            <a:r>
              <a:t>图中省略了校验、错误处理和其他流操作。streamIndex 与 sessionId 在这里分别按接口参数讲解，不额外假设它们必定是两套不同数值。HpaeAdapterManager 没有直接包办所有引擎调用，启动主线经过流包装对象。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https://gitcode.com/openharmony/multimedia_audio_framework/blob/75806a3e619d76a98e02b4984f08da8b0727d441/services/audio_service/server/include/hpae_adapter_manager.h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https://gitcode.com/openharmony/multimedia_audio_framework/blob/75806a3e619d76a98e02b4984f08da8b0727d441/services/audio_service/server/src/hpae_adapter_manager.cpp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https://gitcode.com/openharmony/multimedia_audio_framework/blob/75806a3e619d76a98e02b4984f08da8b0727d441/services/audio_service/server/include/hpae_renderer_stream_impl.h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https://gitcode.com/openharmony/multimedia_audio_framework/blob/75806a3e619d76a98e02b4984f08da8b0727d441/services/audio_service/server/src/hpae_renderer_stream_impl.cpp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看图顺序</a:t>
            </a:r>
          </a:p>
          <a:p xmlns:a="http://schemas.openxmlformats.org/drawingml/2006/main">
            <a:r>
              <a:t>先沿右侧流程往下讲，到中间绿色步骤时，再指向左下方两个子类。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现场讲述</a:t>
            </a:r>
          </a:p>
          <a:p xmlns:a="http://schemas.openxmlformats.org/drawingml/2006/main">
            <a:r>
              <a:t>增益节点负责调音量，混音节点负责把几路输入合到一起。它们做的运算不同，但处理一块数据时，都有一些共同的步骤。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先看右边：取到上游数据，调用处理算法，再把结果写出去。这段顺序，在 HpaePluginNode 的 DoProcess 里已经组织好了。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中间这一步，父类只规定调用 SignalProcess，没有把具体算法写死。看左边的类图，这个函数后面也有“等于零”，表示父类要求派生类去实现它。增益节点在这里写增益计算，混音节点在这里写混音计算。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运行时，如果当前对象是增益节点，父类流程走到 SignalProcess，就会执行增益节点提供的实现；如果当前对象是混音节点，就会执行混音节点的实现。公共流程相同，具体运算由对象自己的类型决定。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这就是模板方法的做法：父类把一段流程组织好，再把其中需要变化的步骤留给子类。这里说的“模板”，是流程上的模板，和 C++ 的 template 关键字没有关系。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这种分工对维护代码很有用。比如只想调整增益的计算方式，首先去看 HpaeGainNode 的 SignalProcess，而不必先改整套取数和输出流程。反过来，公共流程如果需要维护，也有一个相对集中的位置。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图上画的是输入正常、处理启用时的这一条分支。实际代码还有旁路、静音等处理，也有节点会重写 DoProcess。我们用这几个类来理解它的复用方式。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单个节点看清楚了，下一页把几个节点放到一起。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备答</a:t>
            </a:r>
          </a:p>
          <a:p xmlns:a="http://schemas.openxmlformats.org/drawingml/2006/main">
            <a:r>
              <a:t>父类的 SignalProcess 为 protected 纯虚函数，图中用 # 表示受保护成员，+ 表示公开成员。若被问到和策略模式的区别：本例通过继承和重写提供变化步骤，适合讲模板方法。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https://gitcode.com/openharmony/multimedia_audio_framework/blob/75806a3e619d76a98e02b4984f08da8b0727d441/services/audio_engine/node/include/hpae_plugin_node.h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https://gitcode.com/openharmony/multimedia_audio_framework/blob/75806a3e619d76a98e02b4984f08da8b0727d441/services/audio_engine/node/src/hpae_plugin_node.cpp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https://gitcode.com/openharmony/multimedia_audio_framework/blob/75806a3e619d76a98e02b4984f08da8b0727d441/services/audio_engine/node/include/hpae_gain_node.h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https://gitcode.com/openharmony/multimedia_audio_framework/blob/75806a3e619d76a98e02b4984f08da8b0727d441/services/audio_engine/node/include/hpae_mixer_node.h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看图顺序</a:t>
            </a:r>
          </a:p>
          <a:p xmlns:a="http://schemas.openxmlformats.org/drawingml/2006/main">
            <a:r>
              <a:t>从顶部共同基类看起，再看左侧 Cluster 和中间“持有”的箭头。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现场讲述</a:t>
            </a:r>
          </a:p>
          <a:p xmlns:a="http://schemas.openxmlformats.org/drawingml/2006/main">
            <a:r>
              <a:t>一条音频输入进来以后，通常要经过好几步处理。比如格式要对齐，音量要调整，多路输入最后还要混在一起。如果上层直接管理每一个小节点，就得了解它们之间的连接关系。节点一多，管理起来会比较细碎。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HPAE 在这里用了 Cluster，把相关的节点放在一个处理单元里组织。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看图左边的 HpaeProcessCluster。它自己也提供 Connect、DoProcess、GetOutputPort 这些接口。对外部来说，可以连接这个处理单元、触发它处理，再取得输出。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但它内部并非只有一个算法。沿着中间“持有”这条线看，它还管理着增益、混音等具体节点，实际代码里还有格式转换、响度增益和音效相关对象。这些节点怎么组织、怎样连接，由 Cluster 内部负责。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再往图上方看，Cluster 和普通处理节点最终都有 HpaeNode 这个共同基类。一个小节点能够参与处理，组合了多个小节点的处理单元，也能以节点的形式接到更大的结构里。我们在这里讲组合模式，主要看这个关系。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它让上层可以在更大的粒度上管理处理图。上层关心接哪个 Cluster，Cluster 再负责自己内部的节点。至于内部增加哪一步、某个场景怎样连接，就有一个相对集中的管理位置。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这个实现还有自己的细节，例如一些输出接口会直接转交给内部节点。理解到这一层就够了：Cluster 对外提供节点式的用法，对内组织一组节点。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最后一页看一个动态问题：正在处理音频时，启动请求怎样交给工作线程执行。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备答</a:t>
            </a:r>
          </a:p>
          <a:p xmlns:a="http://schemas.openxmlformats.org/drawingml/2006/main">
            <a:r>
              <a:t>图中省略 OutputNode、InputNode 等中间基类。成员由 shared_ptr 和 map 等结构持有，图用成员持有关系表达，没有宣称严格的独占生命周期组合。此例体现组合思想和子图封装，不能将全部处理拓扑概括为标准树形 Composite。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https://gitcode.com/openharmony/multimedia_audio_framework/blob/75806a3e619d76a98e02b4984f08da8b0727d441/services/audio_engine/node/include/hpae_node.h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https://gitcode.com/openharmony/multimedia_audio_framework/blob/75806a3e619d76a98e02b4984f08da8b0727d441/services/audio_engine/node/include/hpae_process_cluster.h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https://gitcode.com/openharmony/multimedia_audio_framework/blob/75806a3e619d76a98e02b4984f08da8b0727d441/services/audio_engine/node/src/hpae_process_cluster.cpp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分半钟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看图顺序</a:t>
            </a:r>
          </a:p>
          <a:p xmlns:a="http://schemas.openxmlformats.org/drawingml/2006/main">
            <a:r>
              <a:t>先说明时间从上往下，再按 ① 到 ④ 走。讲到队列时停一下，说明队列本身没有执行线程。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现场讲述</a:t>
            </a:r>
          </a:p>
          <a:p xmlns:a="http://schemas.openxmlformats.org/drawingml/2006/main">
            <a:r>
              <a:t>点下播放以后，调用最终会进入 HpaeRendererManager 的 Start。这个函数接到请求时，会先把接下来要做的启动操作封装起来。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我们按图上的时间顺序往下看。第一步，调用线程准备一个 lambda，里面保存这次要操作的 sessionId，以及启动时需要执行的逻辑，然后把它放进请求队列。第二步，通知工作线程，有事情需要处理了。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中间这个队列只负责保存请求。请求放进去以后，真正执行它的，还是右边的音频工作线程。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工作线程被唤醒后，先走 HandleMsg。在这个过程中，它调用队列的处理函数，执行已经提交的 lambda。启动相关的状态更新、输入连接等操作，就在这个阶段发生。处理完消息，再走下面的 Process，处理音频数据。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所以，一次启动可以分成两个时刻：调用线程提交请求，工作线程稍后执行请求。我们把“一次要做的操作”和“操作所需的参数”包装在一起，再交给另一个执行位置，这里就体现了命令模式的用法。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教科书里可能会为命令定义一个类，再给它一个 Execute 方法。HPAE 这里用的是函数对象，Request 的类型是 std::function&lt;void()&gt;，lambda 就能把这件事表达出来。读这段代码时，要看它怎样保存和传递操作。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这也解释了一个调试时要注意的现象：Start 返回成功，和工作线程已经完成启动，是两件需要分别确认的事。如果出现状态没跟上，可以继续沿着入队、通知、消费这几个位置查。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这几页回头连起来看：创建对象时看工厂，跨层接入时看适配，单个节点里看模板方法，多节点组织看 Cluster，控制请求交接时看命令。再遇到这些类名，就能大致判断它们在处理哪一类问题。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备答</a:t>
            </a:r>
          </a:p>
          <a:p xmlns:a="http://schemas.openxmlformats.org/drawingml/2006/main">
            <a:r>
              <a:t>图是调用顺序示意，不表达真实耗时或独立的队列线程。Start 的返回路径不等于异步操作完成，初始化检查和队列容量等仍可能影响执行。工作循环先 HandleMsg 再 Process，不能据此推断整个引擎只有一个线程，也不能保证每个命令一定及时完成。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https://gitcode.com/openharmony/multimedia_audio_framework/blob/75806a3e619d76a98e02b4984f08da8b0727d441/services/audio_engine/manager/src/hpae_renderer_manager.cpp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https://gitcode.com/openharmony/multimedia_audio_framework/blob/75806a3e619d76a98e02b4984f08da8b0727d441/services/audio_engine/manager/src/hpae_signal_process_thread.cpp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https://gitcode.com/openharmony/multimedia_audio_framework/blob/75806a3e619d76a98e02b4984f08da8b0727d441/services/audio_engine/utils/hpae_no_lock_queue.h</a:t>
            </a:r>
          </a:p>
          <a:p xmlns:a="http://schemas.openxmlformats.org/drawingml/2006/main">
            <a:r>
              <a:t>https://gitcode.com/openharmony/multimedia_audio_framework/blob/75806a3e619d76a98e02b4984f08da8b0727d441/services/audio_engine/utils/hpae_no_lock_queue.cpp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818b1df7442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74085b68f4a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5a33959ff4e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dd5840d4d4a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a01d9056345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a6d4fe1d54f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7B6883-3939-4D94-B338-9E176AC16B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6DB1DD-2ACF-4137-97CD-20578FE1F2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65E441-8F2F-4BF7-B0FA-820CD1672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C47E0B-9D69-4AC5-B2E9-6C47E286B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C3F4AE-6443-4F28-BF30-8C1C13E85D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F62278-AF66-46B0-8535-11118ECA7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81135E-D5FC-4BD5-87B6-3777C5B41C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A20AC3-D210-454C-83B8-567485B7D3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0C64E5-3C7A-4EBB-8298-1FBA390D6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17C7D4-C7F9-4219-A061-868F918ED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2612bab94749b0" /><Relationship Type="http://schemas.openxmlformats.org/officeDocument/2006/relationships/slideLayout" Target="/ppt/slideLayouts/slideLayout1.xml" Id="R75fd1e7fd2e54859" /><Relationship Type="http://schemas.openxmlformats.org/officeDocument/2006/relationships/slideLayout" Target="/ppt/slideLayouts/slideLayout2.xml" Id="R81d65b3570b44788" /><Relationship Type="http://schemas.openxmlformats.org/officeDocument/2006/relationships/slideLayout" Target="/ppt/slideLayouts/slideLayout3.xml" Id="Rabeffb3c06a6439f" /><Relationship Type="http://schemas.openxmlformats.org/officeDocument/2006/relationships/slideLayout" Target="/ppt/slideLayouts/slideLayout4.xml" Id="R61f0e3a8398a4dd4" /><Relationship Type="http://schemas.openxmlformats.org/officeDocument/2006/relationships/slideLayout" Target="/ppt/slideLayouts/slideLayout5.xml" Id="R69ff0ae497264f2f" /><Relationship Type="http://schemas.openxmlformats.org/officeDocument/2006/relationships/slideLayout" Target="/ppt/slideLayouts/slideLayout6.xml" Id="Rc35b22da43ae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fd1e7fd2e54859"/>
    <p:sldLayoutId xmlns:r="http://schemas.openxmlformats.org/officeDocument/2006/relationships" id="2147483650" r:id="R81d65b3570b44788"/>
    <p:sldLayoutId xmlns:r="http://schemas.openxmlformats.org/officeDocument/2006/relationships" id="2147483651" r:id="Rabeffb3c06a6439f"/>
    <p:sldLayoutId xmlns:r="http://schemas.openxmlformats.org/officeDocument/2006/relationships" id="2147483652" r:id="R61f0e3a8398a4dd4"/>
    <p:sldLayoutId xmlns:r="http://schemas.openxmlformats.org/officeDocument/2006/relationships" id="2147483653" r:id="R69ff0ae497264f2f"/>
    <p:sldLayoutId xmlns:r="http://schemas.openxmlformats.org/officeDocument/2006/relationships" id="2147483654" r:id="Rc35b22da43ae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33573eee14901" /><Relationship Type="http://schemas.openxmlformats.org/officeDocument/2006/relationships/notesSlide" Target="/ppt/notesSlides/notesSlide1.xml" Id="R591f83d8a02342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5323f6388a4a4a" /><Relationship Type="http://schemas.openxmlformats.org/officeDocument/2006/relationships/notesSlide" Target="/ppt/notesSlides/notesSlide2.xml" Id="R3e1a09c282a74d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fd49b4a9d4146" /><Relationship Type="http://schemas.openxmlformats.org/officeDocument/2006/relationships/notesSlide" Target="/ppt/notesSlides/notesSlide3.xml" Id="R1fad51f462d641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eb6e00de94990" /><Relationship Type="http://schemas.openxmlformats.org/officeDocument/2006/relationships/notesSlide" Target="/ppt/notesSlides/notesSlide4.xml" Id="R94cd1265c92b4d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c6f4b5d054b25" /><Relationship Type="http://schemas.openxmlformats.org/officeDocument/2006/relationships/notesSlide" Target="/ppt/notesSlides/notesSlide5.xml" Id="Rfb83aefb79fa42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bb400a19e4ac9" /><Relationship Type="http://schemas.openxmlformats.org/officeDocument/2006/relationships/notesSlide" Target="/ppt/notesSlides/notesSlide6.xml" Id="R8bb463708228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EEF15F-A49E-4EAC-AAA9-3EE955F5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简单工厂：产品接口与具体实现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BC119-2D1B-4F92-8850-B92803F9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CreateRendererManager() 是抽象类中的静态创建入口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1B113-A91A-4A31-9086-1A9E25F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i_hpae_renderer_manager.h:30   /   i_hpae_renderer_manager.cpp:41–65   ·   源码 75806a3e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CAFD2-8275-4B04-BD7B-8D8BC9A9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0233E-CA7E-4CC2-AF03-FFE2F18A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A5CBD-0CF8-4A00-BE1C-1B66ED2D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C5018-7B0D-411C-BD08-945F96B3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HpaeManager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BDA9B-9748-4F80-BAD0-3750844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调用创建入口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AB758-FF82-491C-9A4E-117BEA20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76425"/>
            <a:ext cx="6000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07168-A1A4-4F9A-93BF-8709484E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76425"/>
            <a:ext cx="600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D31C5-B4AF-4A3D-B3F1-20C54501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145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IHpaeRendererManager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34347-DA09-4E14-9FFB-CFAA1AB6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90775"/>
            <a:ext cx="5695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static CreateRendererManager(sinkInfo)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Start(sessionId) = 0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Process()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50F3D-2BC0-48C4-8B53-4E912E0B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90850" y="2724150"/>
            <a:ext cx="914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478F6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57D92-1683-4207-988A-71B491AE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0000" y="26670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D6615-C24B-48C3-A5E7-B50379DE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10000" y="272415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ACF78-E69B-40F2-A48A-B2B0FF63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3431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4BEBE-4E23-4383-80F0-DCFEAEC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010025"/>
            <a:ext cx="7620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62BA0-94C3-43E2-AFC0-B2AF1DB0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05625" y="3714750"/>
            <a:ext cx="9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144AA-2C1B-4F65-BAF9-B57E05A7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52825"/>
            <a:ext cx="190500" cy="161925"/>
          </a:xfrm>
          <a:custGeom xmlns:a="http://schemas.openxmlformats.org/drawingml/2006/main">
            <a:pathLst>
              <a:path w="190500" h="161925">
                <a:moveTo>
                  <a:pt x="95250" y="0"/>
                </a:moveTo>
                <a:lnTo>
                  <a:pt x="0" y="161925"/>
                </a:lnTo>
                <a:lnTo>
                  <a:pt x="190500" y="161925"/>
                </a:lnTo>
                <a:close/>
              </a:path>
            </a:pathLst>
          </a:cu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657B9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88D435-E713-4D18-9CCD-56EF6CAB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4010025"/>
            <a:ext cx="9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D5270-5941-4E01-9E0C-3B819715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35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D5E95-2B5B-4795-8282-B9A42A3B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F6B17-07BE-4F43-9CBC-841964AF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HpaeRendererManager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8494C-C884-4768-9286-22BF770C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普通播放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6604AA-29E1-4E98-82D9-A6C8EB7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10025"/>
            <a:ext cx="9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E553AB-3885-4F62-9F4B-14FE53C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335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4619A-BFD6-43EC-A476-5E8D358E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4BB54C-0F1A-44DF-BF8C-8726E9EE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HpaeFastRendererManager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FE33C-AC30-46CC-828F-0CAFDB2D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快速播放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A5B28-BA65-453A-AC36-45F5ED16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4010025"/>
            <a:ext cx="9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7D63B2-B4F8-4680-B6D6-B3A2E805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35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E450E-CFC6-4A8B-9299-E3C93927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70A76-CC75-480D-B5EE-EF7228C2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HpaeOffloadRendererManager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97F364-1132-406D-8130-22B5846F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Offload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CA1039-0406-4E4D-9E85-FEEC4F0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创建时选择具体类，返回时统一为 IHpaeRendererManager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C663BC-10BC-45F2-8551-7C5D51C8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空心三角指向父类   /   虚线箭头表示调用依赖   /   图中只列三种实现</a:t>
            </a:r>
          </a:p>
        </p:txBody>
      </p:sp>
    </p:spTree>
    <p:extLst>
      <p:ext uri="{BB962C8B-B14F-4D97-AF65-F5344CB8AC3E}">
        <p14:creationId xmlns:p14="http://schemas.microsoft.com/office/powerpoint/2010/main" val="262564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84241-5CF2-433A-B07D-8B656760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简单工厂：一次调用如何选出产品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3073C-C315-43DC-9B6F-224E13F4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同一个创建函数，根据 sinkInfo 选择不同的构造分支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D7C6D-2E20-4C5E-8474-D9B785AE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i_hpae_renderer_manager.cpp:41–65   /   hpae_manager.cpp:351   ·   源码 75806a3e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AD6B4-6458-49E2-A0A0-70275422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60BF4-678E-428C-B208-369810A0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17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9EBAF-082C-47FD-AA57-DD5B52AE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E96A3-A362-4323-B1BF-11092B7D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调用方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48E2E-C250-404A-859A-E5952951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1866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HpaeManager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BF97D-5F47-4361-B28C-23274A47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3810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ED6F9-A672-42B8-9BDC-ACBAC21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AACE8-3649-4831-B808-4EDE6F38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静态工厂入口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E8DDF-A029-421B-B621-499E7A2B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29000"/>
            <a:ext cx="350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CreateRendererManager(sinkInfo)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检查设备类别与设备名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A29F6-B512-46FD-A725-AB790C26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81300" y="3600450"/>
            <a:ext cx="552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478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566A6-4D05-447D-944E-47D8C307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8500" y="35433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258CB-F5E3-4C4A-AE27-D5810B24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38500" y="360045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1FC25-2479-4294-A065-B037A185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0" y="3600450"/>
            <a:ext cx="47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048F2-D4A1-4557-8276-81671B4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2343150"/>
            <a:ext cx="95" cy="2552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9D91B-8D7E-4307-B3E7-63ADD94E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2343150"/>
            <a:ext cx="1104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8E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322E3-C953-4EEB-A1A5-1EE16672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29650" y="22860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9693C-ADAC-4434-8395-78EE7FD8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29650" y="234315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F10DF-5D59-40EF-906C-5A00AE1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97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599D2-6C43-449F-8C38-28E4808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859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HpaeRendererManager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495A7-0525-4F78-960F-A25F0B8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526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默认分支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53A70-6210-41FD-B0A9-25494EB2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3619500"/>
            <a:ext cx="1104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8E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682346-A6B2-41C4-87B6-9B45F192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29650" y="356235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FD957-2069-465D-86E9-8C89D835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29650" y="36195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F2E37-4881-4E7B-9C3A-6118FA0B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86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810F2-C088-4BAC-A611-083581D2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62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HpaeFastRendererManager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45A78-1BA1-4407-A252-BCDD9BA1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primary_mmap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4BD42-A543-4F0B-9A56-AC0CCA9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4895850"/>
            <a:ext cx="1104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8E8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B365F7-4AE5-4295-8F14-DD3D4431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29650" y="48387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D042D3-28F9-4EAE-A3F0-CB8545B0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29650" y="489585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8D4DC4-F6DF-4F44-A926-68BB0F7C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624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44D0E-8FE2-4172-B88E-90456F02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3867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HpaeOffloadRendererManager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1C5714-4F1B-40A3-BCC5-31938C05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053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offload 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2A740C-ECCD-44CE-AB79-CAD77750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“创建谁”的判断集中在一处，调用方统一使用返回的接口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723B4-7532-4B1A-A7AE-88931C7A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这是简单工厂。新增产品类型时，通常仍需修改这个创建函数</a:t>
            </a:r>
          </a:p>
        </p:txBody>
      </p:sp>
    </p:spTree>
    <p:extLst>
      <p:ext uri="{BB962C8B-B14F-4D97-AF65-F5344CB8AC3E}">
        <p14:creationId xmlns:p14="http://schemas.microsoft.com/office/powerpoint/2010/main" val="2042414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876B88-6E5F-48D7-986B-0D7C1858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适配器：两层包装连接两套接口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E9C0D-0F3C-4EC6-9A18-A798920A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Service 使用 IStreamManager，适配层把操作交给 HPAE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3F7A9-DF5D-41C4-82A1-66855E17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hpae_adapter_manager.h:31   /   hpae_adapter_manager.cpp:130   /   hpae_renderer_stream_impl.cpp:160   ·   源码 75806a3e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2850D-AA77-4FB3-9047-7649CB9E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84E64-93B2-434F-8DC2-AD1E24CD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714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BA908-902B-4690-8DCC-B94BE31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963CC-F06A-4F55-9276-BB19C06D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IStreamManager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481C1-529D-4FA8-A477-860EA8B7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StartRender(streamIndex)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324CE-A442-4778-A04E-B9B0FF71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71675"/>
            <a:ext cx="3486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95C07-4F80-4B63-ACD0-990E0580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71675"/>
            <a:ext cx="3486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FA02C-5467-4613-828F-62AE681A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97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IRendererStream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B2298-4AA1-48B7-BD54-035B0780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86025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Start()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74C2D-CE47-45CE-AF10-500C12E5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71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D7B88-64F7-4565-A978-B12B2299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5FC8D-414C-4B9E-82A3-505B5738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HpaeAdapterManager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0BAE3-FAD2-4C66-B02E-301D8B67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09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StartRender(streamIndex)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- rendererStreamMap_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28589-DC18-4C9C-86FB-831E8EE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10025"/>
            <a:ext cx="3486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251A5-F32E-409D-8A14-F6576216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10025"/>
            <a:ext cx="3486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9E640-2DC0-4805-B014-FEECF19B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4812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HpaeRendererStreamImpl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B3BEB-2B58-4287-BFCD-5791FB37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24375"/>
            <a:ext cx="3181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Start()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24218-C7F8-478E-AC7A-133C00B1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66975" y="3143250"/>
            <a:ext cx="95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BBA01-3730-437A-9A5E-C1118C0B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981325"/>
            <a:ext cx="190500" cy="161925"/>
          </a:xfrm>
          <a:custGeom xmlns:a="http://schemas.openxmlformats.org/drawingml/2006/main">
            <a:pathLst>
              <a:path w="190500" h="161925">
                <a:moveTo>
                  <a:pt x="95250" y="0"/>
                </a:moveTo>
                <a:lnTo>
                  <a:pt x="0" y="161925"/>
                </a:lnTo>
                <a:lnTo>
                  <a:pt x="190500" y="161925"/>
                </a:lnTo>
                <a:close/>
              </a:path>
            </a:pathLst>
          </a:cu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657B9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BE3ED-46D3-46FE-B0AC-4DF39BFB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00925" y="3143250"/>
            <a:ext cx="95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80A28-32F2-4747-B5DF-EFD57B8C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81325"/>
            <a:ext cx="190500" cy="161925"/>
          </a:xfrm>
          <a:custGeom xmlns:a="http://schemas.openxmlformats.org/drawingml/2006/main">
            <a:pathLst>
              <a:path w="190500" h="161925">
                <a:moveTo>
                  <a:pt x="95250" y="0"/>
                </a:moveTo>
                <a:lnTo>
                  <a:pt x="0" y="161925"/>
                </a:lnTo>
                <a:lnTo>
                  <a:pt x="190500" y="161925"/>
                </a:lnTo>
                <a:close/>
              </a:path>
            </a:pathLst>
          </a:cu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657B9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7E764-8103-4E7D-8DA3-17CFDA61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24350" y="4562475"/>
            <a:ext cx="571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928236-EA4A-4251-BC61-E4719449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95850" y="2476500"/>
            <a:ext cx="95" cy="2085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9E8C76-1E5E-4AF9-A861-808C18C0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95850" y="24765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478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56E400-935A-4A18-88E6-C0C21EC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2600" y="241935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01CA7-FC34-4441-81A8-83CC9D3C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62600" y="24765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191769-B906-4F5B-A780-F9E529BD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① 持有流接口</a:t>
            </a:r>
          </a:p>
          <a:p xmlns:a="http://schemas.openxmlformats.org/drawingml/2006/main">
            <a:pPr algn="l">
              <a:defRPr sz="1500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② 调用 Start()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54662C-F5BE-407E-B1B0-19A19D37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0025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387D2E-CA33-4F45-A726-6B24463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0025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BF296D-4308-421C-ABC7-5DD75D72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481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IHpaeManager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A4195-EBF6-44C4-B296-CD14C6D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Start(type,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    sessionId)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70C612-F7FD-4E6C-B96A-8E30ABC7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4562475"/>
            <a:ext cx="609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8E8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D34361-B30D-4F2E-91E9-FFF4F0E2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58350" y="4505325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87721E-A3EB-46CC-ABF5-F0067995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658350" y="4562475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9613E2-6C7D-4F35-ACBF-7428AB42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91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2FB2B0-785C-4788-87A3-F8488D61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上层依赖的接口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21046F-8A73-4A12-B0C1-043795FE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38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运行时使用 HPAE 流实现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C3C125-B2D9-49FD-8B15-64E8D737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管理器适配流管理接口，流包装对象衔接引擎调用</a:t>
            </a:r>
          </a:p>
        </p:txBody>
      </p:sp>
    </p:spTree>
    <p:extLst>
      <p:ext uri="{BB962C8B-B14F-4D97-AF65-F5344CB8AC3E}">
        <p14:creationId xmlns:p14="http://schemas.microsoft.com/office/powerpoint/2010/main" val="1595388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FF6F1D-3E01-4E3F-A2EA-2D9D2513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模板方法：父类留出一个算法扩展点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F5DA2-DAF5-43A4-973C-FB14BB1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DoProcess() 定义公共流程，SignalProcess() 由子类实现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E9708-3386-4ED5-B690-85337AE2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hpae_plugin_node.cpp:41   /   hpae_plugin_node.h:48   /   hpae_gain_node.h:32   ·   源码 75806a3e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6DCDC-84E5-4025-940E-111ED6E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45264-9042-4710-9045-5462211D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33575"/>
            <a:ext cx="457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1FA95-581F-4ACF-9B37-D4522772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33575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7F363-4A19-4DC0-A7E5-76F99861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716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HpaePluginNode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86139-59F7-465E-B603-6B2113C9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47925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DoProcess()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# SignalProcess(inputs)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8EC21-E483-492E-9C29-0B273BDC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3724275"/>
            <a:ext cx="29241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0C61F-6676-42D2-8474-DDFC9BEF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14750" y="3371850"/>
            <a:ext cx="9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A5253-D414-445A-94AD-A1367088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190500" cy="161925"/>
          </a:xfrm>
          <a:custGeom xmlns:a="http://schemas.openxmlformats.org/drawingml/2006/main">
            <a:pathLst>
              <a:path w="190500" h="161925">
                <a:moveTo>
                  <a:pt x="95250" y="0"/>
                </a:moveTo>
                <a:lnTo>
                  <a:pt x="0" y="161925"/>
                </a:lnTo>
                <a:lnTo>
                  <a:pt x="190500" y="161925"/>
                </a:lnTo>
                <a:close/>
              </a:path>
            </a:pathLst>
          </a:cu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657B9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D3F44-378A-4D2C-9C94-ED724D4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0" y="3724275"/>
            <a:ext cx="9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ADE7F-75B7-4A96-9395-47045DE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10175" y="3724275"/>
            <a:ext cx="95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2EFB1-7915-43CB-96D7-AB2FA1FA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35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019EF-BFA3-421A-B5F6-F1EAFC29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A2203-DF77-4398-ADEE-81FB2B0D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HpaeGainNode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9DAD8-E6F5-49CD-ADA2-F11742D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# SignalProcess()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实现增益计算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FEAA9-AEC0-4B4F-AD54-C536D625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86250"/>
            <a:ext cx="335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B0A6A-962D-4305-A0FA-5D2DE2FA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8625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3B515-4D3C-4397-A168-E996C486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243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HpaeMixerNode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F2442-0B81-4540-A146-F5BE4E26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006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# SignalProcess()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实现混音计算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5F8A7-208F-464D-9EB7-A77D989B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14525"/>
            <a:ext cx="3067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12659-78CC-4C95-B487-05627C5D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14525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F2474A-2DE3-4446-9E2A-B88A5AF1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① 取上游数据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CDD881-F9CB-44DF-925A-937BC10F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ReadPreOutputData()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B2132-9019-46D1-AE87-BC126575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3067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5C9D8-513F-4495-971F-8779F3ED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E3A75-D6F5-4859-A033-ED63C76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② 调用具体算法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DF1B5-F390-40D0-8536-168E8FAA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SignalProcess(inputs)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E251A4-421C-4A0B-8185-930E4D79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48175"/>
            <a:ext cx="3067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B7D2C-F964-46F6-87E0-62F67A37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48175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D0BDF6-3E1A-4A66-B902-FF72F67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8627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③ 写出结果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956F41-5377-48DA-9B1B-0B1AE9B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625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WriteDataToOutput()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34BF2C-4A12-47EC-8F29-47DCCB4F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48875" y="2771775"/>
            <a:ext cx="9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478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620F81-A71A-48BD-8103-DA844A90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1725" y="3086100"/>
            <a:ext cx="571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41ED86-39F4-44DF-97FD-DF838374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048875" y="3086100"/>
            <a:ext cx="571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82F152-BE3A-49C3-84B4-13558852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48875" y="4038600"/>
            <a:ext cx="95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478F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B4E34C-197C-49AB-9906-1672701B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91725" y="4352925"/>
            <a:ext cx="571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FEC34F-4F84-49B3-B3EF-4C06E737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048875" y="4352925"/>
            <a:ext cx="571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1D73E8-0E2B-4300-A0E0-56E9BDD9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57350"/>
            <a:ext cx="338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父类中的正常处理分支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EA5E72-2DB7-47BB-9D36-8F237EF2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流程骨架写一次，增益与混音分别实现“怎样算”</a:t>
            </a:r>
          </a:p>
        </p:txBody>
      </p:sp>
    </p:spTree>
    <p:extLst>
      <p:ext uri="{BB962C8B-B14F-4D97-AF65-F5344CB8AC3E}">
        <p14:creationId xmlns:p14="http://schemas.microsoft.com/office/powerpoint/2010/main" val="2137722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5A2386-A6F3-4316-AD5B-EAAEE2D4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组合：Cluster 把子图封装成一个节点单元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DE316-0D9F-402A-8AE5-55B836A0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外部连接一个 Cluster，内部管理多个具体处理节点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092A-C591-4803-9F7A-7CB5BB8F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hpae_node.h:210、223   /   hpae_process_cluster.h:30   /   hpae_process_cluster.cpp:80、194   ·   源码 75806a3e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E71E1-4A8D-4A29-806B-D5D21E11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DEA51-B898-4EC8-96C9-2D6726FB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38325"/>
            <a:ext cx="4000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79CA2-D2A6-4166-8FB6-FBB60464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38325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71E4A-E955-4162-A443-62E435EE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7642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HpaeNode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45FDD-70A8-433D-801A-764F4F2D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52675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DoProcess()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F228D-1B46-4EAD-B6D3-D22E5BC3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3314700"/>
            <a:ext cx="6858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E3FB3-330C-4220-89B2-D6E580F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981325"/>
            <a:ext cx="9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DF33C-449B-492B-BEFA-A10A8C40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19400"/>
            <a:ext cx="190500" cy="161925"/>
          </a:xfrm>
          <a:custGeom xmlns:a="http://schemas.openxmlformats.org/drawingml/2006/main">
            <a:pathLst>
              <a:path w="190500" h="161925">
                <a:moveTo>
                  <a:pt x="95250" y="0"/>
                </a:moveTo>
                <a:lnTo>
                  <a:pt x="0" y="161925"/>
                </a:lnTo>
                <a:lnTo>
                  <a:pt x="190500" y="161925"/>
                </a:lnTo>
                <a:close/>
              </a:path>
            </a:pathLst>
          </a:cu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657B9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2EFDD-86E8-4472-9AED-93635B0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3314700"/>
            <a:ext cx="9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1DFB7-FE56-4A53-A448-B0311615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0" y="3314700"/>
            <a:ext cx="9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75B38-5DFF-4FF6-B68E-22487F78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114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0A42C-60D6-4BE5-847D-BFB9DF75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11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C1334-AE40-4420-9D3E-025811F0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HpaeProcessCluster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FE204-B0EF-451B-97A3-1A04C09E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Connect()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DoProcess()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GetOutputPort()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6E0C7-7E9F-4EE3-B9DB-677A9583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37909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CA946-067A-4EBC-B2B2-5599F9D5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52850"/>
            <a:ext cx="3790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616BB-278D-46F7-B4C7-A2117C5A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600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HpaePluginNode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B88D3-9798-4C5F-B60A-42BF6CED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486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+ DoProcess()</a:t>
            </a:r>
          </a:p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# SignalProcess() =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92F76-3354-46C9-84A7-111ED177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间接继承，省略端口基类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2AE9B-D212-410F-B321-94E1306E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8B242-55E3-4FDB-8ED4-CAF52B33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76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具体子节点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102D5-823B-4757-AADB-AB6CC0C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95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Gain / Mixer / 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05517-F270-4D71-B683-F67078B8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24400" y="4619625"/>
            <a:ext cx="514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8E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4862C-3D15-4CE5-AEF2-37FA08DE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4562475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37AA88-5226-47D7-AA3F-D5D0F69D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43500" y="4619625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EF117-87FC-4A5F-B81C-9D41F11C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481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持有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070CDC-EC10-48E7-BA4C-EAB6624C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46958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3C9295-5186-4683-B2B6-F6C7E00D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05700" y="4343400"/>
            <a:ext cx="9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43C9E-CA4A-4FF0-9BB1-1D9531B2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05700" y="4343400"/>
            <a:ext cx="1238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57B9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15319-57E7-4F38-B7A5-1B489026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248150"/>
            <a:ext cx="161925" cy="190500"/>
          </a:xfrm>
          <a:custGeom xmlns:a="http://schemas.openxmlformats.org/drawingml/2006/main">
            <a:pathLst>
              <a:path w="161925" h="190500">
                <a:moveTo>
                  <a:pt x="161925" y="95250"/>
                </a:move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F6F8FB"/>
          </a:solidFill>
          <a:ln xmlns:a="http://schemas.openxmlformats.org/drawingml/2006/main" w="19050">
            <a:solidFill>
              <a:srgbClr val="657B9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53F3D8-664B-44D4-AFC3-7267B2C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对外像一个节点，对内组织一组节点及其连接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666B2A-565B-429F-92F0-4EBF92A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实线箭头表示成员持有   /   空心三角表示继承   /   省略中间基类和其他成员</a:t>
            </a:r>
          </a:p>
        </p:txBody>
      </p:sp>
    </p:spTree>
    <p:extLst>
      <p:ext uri="{BB962C8B-B14F-4D97-AF65-F5344CB8AC3E}">
        <p14:creationId xmlns:p14="http://schemas.microsoft.com/office/powerpoint/2010/main" val="1839485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F96A3D-BAE8-4BED-8C4D-DA52CA17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命令：提交请求与执行请求分开发生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B704B-1799-47B5-86EA-CAF08FDD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Request 用 lambda 保存操作和参数，工作线程取出后执行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72373-2906-4B1D-AE5F-816B6EFD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hpae_renderer_manager.cpp:682、1415   /   hpae_no_lock_queue.cpp:227   /   hpae_signal_process_thread.cpp:104   ·   源码 75806a3e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0EC5A-CE32-4C80-B4AA-DF5F999C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2A8BD-ADC1-451C-ABBA-4CEF1CC3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2933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E481F-7A2F-4436-A7AD-F8E29831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9A638-A509-4C38-929B-9F6E220F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调用线程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69A83-252A-45FB-BA8C-5C88FF20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2638425"/>
            <a:ext cx="95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57B92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E6A7B-315D-4997-813D-28EE935C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19275"/>
            <a:ext cx="2933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874B7-B8CB-4D3D-9FB9-088C6C56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19275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2"/>
          </a:solidFill>
          <a:ln xmlns:a="http://schemas.openxmlformats.org/drawingml/2006/main" w="17145">
            <a:solidFill>
              <a:srgbClr val="008E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A8F54-7474-4050-9AF7-D6B0562E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5737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请求队列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C176B-EE04-4DEE-837E-A527D1E3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33625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保存 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6E82F-2C81-45F0-BAF0-396AEA01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38425"/>
            <a:ext cx="95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57B92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FA447-190B-4E66-8DF5-AE54657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19275"/>
            <a:ext cx="2933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57B9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46714-A2C2-49AF-84AB-C7BAEC93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19275"/>
            <a:ext cx="2933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D"/>
          </a:solidFill>
          <a:ln xmlns:a="http://schemas.openxmlformats.org/drawingml/2006/main" w="17145">
            <a:solidFill>
              <a:srgbClr val="3478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3BBE1-6B95-4826-BBE4-D52F68C1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音频工作线程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B56BD-3A5B-46FE-95CD-3A6D8366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01250" y="2638425"/>
            <a:ext cx="95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57B92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6DE12-CECF-470D-9D41-F12C6D1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时间向下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BEBEE-11D2-4007-8F2B-D1DC2E0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3048000"/>
            <a:ext cx="390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478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64C51-55D2-46DA-B87B-5EA15FD3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0" y="299085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A1DB3-3531-4AE1-8E94-3560A2C5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00750" y="30480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E0C40-2F9A-4937-935F-C6A20083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8605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① PushRequest(lambda)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F5434-CCA2-4827-A213-0B9F769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3705225"/>
            <a:ext cx="781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3478F6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51497-CE02-4F60-879F-E50CC842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0" y="3648075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5B573-00AA-4499-BBE9-8459503D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06000" y="3705225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78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3A297-DA84-4A72-9130-EAD3388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② Notify() 唤醒工作线程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54A600-76F4-4F2A-B5A1-3D28999D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4362450"/>
            <a:ext cx="390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08E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ECF02C-4B24-4A50-A6D6-56AFEFE3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430530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F38045-C94C-4736-B092-4992950B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96000" y="4362450"/>
            <a:ext cx="9525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E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0A08A8-80F1-4B6E-83F0-BD3C9AAC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719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③ HandleMsg() / HandleRequests()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E02C04-6AD8-4903-B005-65F65D59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72000"/>
            <a:ext cx="3743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008E89"/>
                </a:solidFill>
                <a:latin typeface="Hiragino Sans GB"/>
                <a:ea typeface="Hiragino Sans GB"/>
                <a:cs typeface="Hiragino Sans GB"/>
              </a:rPr>
              <a:t>执行 lambda：更新状态与连接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91D13D-1C75-44D7-8C6D-23AFF3CF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029200"/>
            <a:ext cx="3743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④ Process()：处理音频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377CA8-C352-4531-9F39-A7C581A0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操作和参数先入队，消费者线程在自己的上下文中执行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393996-3DA0-448A-BD64-EEDA0974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队列是数据结构，不是一个线程。Start() 返回成功也不等于异步启动完成</a:t>
            </a:r>
          </a:p>
        </p:txBody>
      </p:sp>
    </p:spTree>
    <p:extLst>
      <p:ext uri="{BB962C8B-B14F-4D97-AF65-F5344CB8AC3E}">
        <p14:creationId xmlns:p14="http://schemas.microsoft.com/office/powerpoint/2010/main" val="454721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2026-10-22T07:14:42.3190000Z</dcterms:created>
  <dcterms:modified xsi:type="dcterms:W3CDTF">2026-10-22T07:14:42.3190000Z</dcterms:modified>
</coreProperties>
</file>
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e6e9cc8e44d47" /><Relationship Type="http://schemas.openxmlformats.org/officeDocument/2006/relationships/extended-properties" Target="/docProps/app.xml" Id="R89a59469a0754fda" /><Relationship Type="http://schemas.openxmlformats.org/officeDocument/2006/relationships/officeDocument" Target="/ppt/presentation.xml" Id="R9402a30ffa9449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776d3d4db247b0"/>
  </p:sldMasterIdLst>
  <p:notesMasterIdLst>
    <p:notesMasterId xmlns:r="http://schemas.openxmlformats.org/officeDocument/2006/relationships" r:id="R4130236e8357421d"/>
  </p:notesMasterIdLst>
  <p:sldIdLst>
    <p:sldId xmlns:r="http://schemas.openxmlformats.org/officeDocument/2006/relationships" id="256" r:id="R3e59a8a02611441b"/>
    <p:sldId xmlns:r="http://schemas.openxmlformats.org/officeDocument/2006/relationships" id="257" r:id="Rd82d22b17d1b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15435fffd4641" /><Relationship Type="http://schemas.openxmlformats.org/officeDocument/2006/relationships/slideMaster" Target="/ppt/slideMasters/slideMaster1.xml" Id="Rd3776d3d4db247b0" /><Relationship Type="http://schemas.openxmlformats.org/officeDocument/2006/relationships/notesMaster" Target="/ppt/notesMasters/notesMaster1.xml" Id="R4130236e8357421d" /><Relationship Type="http://schemas.openxmlformats.org/officeDocument/2006/relationships/presProps" Target="/ppt/presProps.xml" Id="Rfc7a0e47b3b646c0" /><Relationship Type="http://schemas.openxmlformats.org/officeDocument/2006/relationships/tableStyles" Target="/ppt/tableStyles.xml" Id="Rbb178f06d3c34cbb" /><Relationship Type="http://schemas.openxmlformats.org/officeDocument/2006/relationships/slide" Target="/ppt/slides/slide1.xml" Id="R3e59a8a02611441b" /><Relationship Type="http://schemas.openxmlformats.org/officeDocument/2006/relationships/slide" Target="/ppt/slides/slide2.xml" Id="Rd82d22b17d1b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9811010d6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26ba40839d4a4e" /><Relationship Type="http://schemas.openxmlformats.org/officeDocument/2006/relationships/notesMaster" Target="/ppt/notesMasters/notesMaster1.xml" Id="R7d1f2dcf32b8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3f34104d4426f" /><Relationship Type="http://schemas.openxmlformats.org/officeDocument/2006/relationships/notesMaster" Target="/ppt/notesMasters/notesMaster1.xml" Id="Rb21a493e73c1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同一件事，写了几遍</a:t>
            </a:r>
          </a:p>
          <a:p xmlns:a="http://schemas.openxmlformats.org/drawingml/2006/main">
            <a:r>
              <a:t>时间：2分钟</a:t>
            </a:r>
          </a:p>
          <a:p xmlns:a="http://schemas.openxmlformats.org/drawingml/2006/main">
            <a:r>
              <a:t>本页目标：同一件事，写了几遍</a:t>
            </a:r>
          </a:p>
          <a:p xmlns:a="http://schemas.openxmlformats.org/drawingml/2006/main">
            <a:r>
              <a:t>承接：承接《一首歌，三个操作》结尾的提问：换一个引擎会怎样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上一部分结尾问：换一个引擎，这三个操作会是什么样？先看结构，再看执行组织。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左边是老方案里干活的文件：HDI sink 模块，四千八百行、一百九十个函数，一个文件。设备开关、格式转换、淡入淡出、状态回调、低时延通路、限幅器、缓冲管理，全在里面。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看“暂停恢复要淡入淡出”这一件事。主通路一套淡入完成检查，多声道又一套，状态回调按流类型写了四个变体。流类型的差异，被织进了每一个关注点的代码里——每支持一种新的流类型，每个关注点都要再分叉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右边是 HPAE 的做法。淡入淡出整个住在增益节点里，五百行出头，一套状态机：挂标志、逐帧执行、就地回调。主通路、多声道、低时延的流，用的是同一个增益节点。它们的差异只决定挂在哪条处理链上，是挂链时的一个参数，不是代码里的分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维护成本的差别就在这：不是谁的代码行数少，而是同一件事要写几遍、改一处要读懂多少。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演示：初始只显示引子；第一次点击展开 PA 侧单模块；第二次点击展开 HPAE 侧节点与底部对照句。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技术边界：对照基于 v5.1.0-Release 的 HDI sink 模块与当前主干的引擎节点层；行数为对应文件实测，其余为结构对照，不构成全维度评价。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https://gitcode.com/openharmony/multimedia_audio_framework/blob/OpenHarmony-v5.1.0-Release/frameworks/native/pulseaudio/modules/hdi/hdi_sink.c#L1094</a:t>
            </a:r>
          </a:p>
          <a:p xmlns:a="http://schemas.openxmlformats.org/drawingml/2006/main">
            <a:r>
              <a:t>https://gitcode.com/openharmony/multimedia_audio_framework/blob/OpenHarmony-v5.1.0-Release/frameworks/native/pulseaudio/modules/hdi/hdi_sink.c#L1219</a:t>
            </a:r>
          </a:p>
          <a:p xmlns:a="http://schemas.openxmlformats.org/drawingml/2006/main">
            <a:r>
              <a:t>https://gitcode.com/openharmony/multimedia_audio_framework/blob/OpenHarmony-v5.1.0-Release/frameworks/native/pulseaudio/modules/hdi/hdi_sink.c#L1469</a:t>
            </a:r>
          </a:p>
          <a:p xmlns:a="http://schemas.openxmlformats.org/drawingml/2006/main">
            <a:r>
              <a:t>https://gitcode.com/openharmony/multimedia_audio_framework/blob/OpenHarmony-v5.1.0-Release/frameworks/native/pulseaudio/modules/hdi/hdi_sink.c#L3025</a:t>
            </a:r>
          </a:p>
          <a:p xmlns:a="http://schemas.openxmlformats.org/drawingml/2006/main">
            <a:r>
              <a:t>https://gitcode.com/openharmony/multimedia_audio_framework/blob/0d073de5a30f33ab6716d9abd481d76eca843741/services/audio_engine/node/src/hpae_gain_node.cpp#L207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改动半径：加限幅，接新设备</a:t>
            </a:r>
          </a:p>
          <a:p xmlns:a="http://schemas.openxmlformats.org/drawingml/2006/main">
            <a:r>
              <a:t>时间：2分钟</a:t>
            </a:r>
          </a:p>
          <a:p xmlns:a="http://schemas.openxmlformats.org/drawingml/2006/main">
            <a:r>
              <a:t>本页目标：改动半径：加限幅，接新设备</a:t>
            </a:r>
          </a:p>
          <a:p xmlns:a="http://schemas.openxmlformats.org/drawingml/2006/main">
            <a:r>
              <a:t>承接：承接《一首歌，三个操作》结尾的提问：换一个引擎会怎样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再看两类最常见的改动，各要碰多大面积。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第一件：给所有通路加限幅。老方案里，限幅器就长在 sink 模块里，加它、改它，动的都是那个四千八百行的文件。HPAE 里它是一个独立的限幅节点，挂进链就行，带着自己的单测。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第二件：接一种新的输出设备。老方案要动 sink 模块里的设备分支和格式转换。HPAE 里节点不关心具体设备：设备信息、帧长、采样率，都是挂到目标侧时填进节点信息的参数。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一个数字收尾：HPAE 的节点层是三十多个文件，每个文件一个职责，最大的一个一千一百行；每个节点有自己的单测，三十多个测试文件。改限幅不用读格式转换，改增益不用碰设备。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所以这一部分的论点先立在这：老方案把流类型和设备差异织进代码分叉，每加一种就全文再分叉一次；HPAE 把它们变成挂链时的参数，每个保证只写一遍。接下来看执行组织——线程和队列——两边又是怎么安排的。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演示：初始只显示引子；第一次点击展开“加限幅”情景；第二次点击展开“接新设备”情景与底部对照句。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技术边界：情景为结构对照，未覆盖全部改动类型；老方案的支持面与生态成熟度是另一组维度，不在本页比较。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https://gitcode.com/openharmony/multimedia_audio_framework/blob/OpenHarmony-v5.1.0-Release/frameworks/native/pulseaudio/modules/hdi/hdi_sink.c#L2376</a:t>
            </a:r>
          </a:p>
          <a:p xmlns:a="http://schemas.openxmlformats.org/drawingml/2006/main">
            <a:r>
              <a:t>https://gitcode.com/openharmony/multimedia_audio_framework/blob/0d073de5a30f33ab6716d9abd481d76eca843741/services/audio_engine/node/src/hpae_limiter_node.cpp</a:t>
            </a:r>
          </a:p>
          <a:p xmlns:a="http://schemas.openxmlformats.org/drawingml/2006/main">
            <a:r>
              <a:t>https://gitcode.com/openharmony/multimedia_audio_framework/blob/0d073de5a30f33ab6716d9abd481d76eca843741/services/audio_engine/manager/src/hpae_renderer_manager.cpp#L114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f9e3d0c2844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f4118767b42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a26077c0e4a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66374c2af497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32663977f43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870b6840943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3592FC-7393-4BA8-9E8D-704D742342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3F9CF8-0BAA-4395-AE61-5B0FDD96DC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F6256E-A4EC-422F-BFA2-9230D4CCC4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D40560-506D-4360-8FFC-1549F744B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B60AD2-F544-4139-8B90-859E51624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34AA47A-BD2F-4E5B-B034-169389899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B4FE1D-1A2E-40DC-9E0E-4F813D379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DEE82F-7E4B-4F46-BFFD-ECD9CBFDD4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9010837-8E5B-4116-B427-A20BC5496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7B8F0E-C7DE-4E80-96A6-1A6AF64B1F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825e4080146f1" /><Relationship Type="http://schemas.openxmlformats.org/officeDocument/2006/relationships/slideLayout" Target="/ppt/slideLayouts/slideLayout1.xml" Id="Reb47522df3d64817" /><Relationship Type="http://schemas.openxmlformats.org/officeDocument/2006/relationships/slideLayout" Target="/ppt/slideLayouts/slideLayout2.xml" Id="Rb2e8d042ba9d4d64" /><Relationship Type="http://schemas.openxmlformats.org/officeDocument/2006/relationships/slideLayout" Target="/ppt/slideLayouts/slideLayout3.xml" Id="R1d411c71294d4084" /><Relationship Type="http://schemas.openxmlformats.org/officeDocument/2006/relationships/slideLayout" Target="/ppt/slideLayouts/slideLayout4.xml" Id="R87f2718d95334457" /><Relationship Type="http://schemas.openxmlformats.org/officeDocument/2006/relationships/slideLayout" Target="/ppt/slideLayouts/slideLayout5.xml" Id="R7c61cf99e9304964" /><Relationship Type="http://schemas.openxmlformats.org/officeDocument/2006/relationships/slideLayout" Target="/ppt/slideLayouts/slideLayout6.xml" Id="Rcfce9525a3d646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7522df3d64817"/>
    <p:sldLayoutId xmlns:r="http://schemas.openxmlformats.org/officeDocument/2006/relationships" id="2147483650" r:id="Rb2e8d042ba9d4d64"/>
    <p:sldLayoutId xmlns:r="http://schemas.openxmlformats.org/officeDocument/2006/relationships" id="2147483651" r:id="R1d411c71294d4084"/>
    <p:sldLayoutId xmlns:r="http://schemas.openxmlformats.org/officeDocument/2006/relationships" id="2147483652" r:id="R87f2718d95334457"/>
    <p:sldLayoutId xmlns:r="http://schemas.openxmlformats.org/officeDocument/2006/relationships" id="2147483653" r:id="R7c61cf99e9304964"/>
    <p:sldLayoutId xmlns:r="http://schemas.openxmlformats.org/officeDocument/2006/relationships" id="2147483654" r:id="Rcfce9525a3d646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55fdef5d74074" /><Relationship Type="http://schemas.openxmlformats.org/officeDocument/2006/relationships/notesSlide" Target="/ppt/notesSlides/notesSlide1.xml" Id="Rbbd7abb5d02f47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d98708bf94ec2" /><Relationship Type="http://schemas.openxmlformats.org/officeDocument/2006/relationships/notesSlide" Target="/ppt/notesSlides/notesSlide2.xml" Id="Rb86449706cae48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object-0">
            <a:extLst xmlns:a="http://schemas.openxmlformats.org/drawingml/2006/main">
              <a:ext uri="{FF2B5EF4-FFF2-40B4-BE49-F238E27FC236}">
                <a16:creationId xmlns:a16="http://schemas.microsoft.com/office/drawing/2014/main" id="{67002AAA-289A-43F3-A0FC-C877F1C0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同一件事，写了几遍</a:t>
            </a:r>
          </a:p>
        </p:txBody>
      </p:sp>
      <p:sp>
        <p:nvSpPr>
          <p:cNvPr id="2" name="object-1">
            <a:extLst xmlns:a="http://schemas.openxmlformats.org/drawingml/2006/main">
              <a:ext uri="{FF2B5EF4-FFF2-40B4-BE49-F238E27FC236}">
                <a16:creationId xmlns:a16="http://schemas.microsoft.com/office/drawing/2014/main" id="{17F589AD-0946-49FA-8F37-5D0BE270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暂停恢复的淡入淡出，这一个保证，两边各写了几遍。</a:t>
            </a:r>
          </a:p>
        </p:txBody>
      </p:sp>
      <p:sp>
        <p:nvSpPr>
          <p:cNvPr id="3" name="reveal1-object-2">
            <a:extLst xmlns:a="http://schemas.openxmlformats.org/drawingml/2006/main">
              <a:ext uri="{FF2B5EF4-FFF2-40B4-BE49-F238E27FC236}">
                <a16:creationId xmlns:a16="http://schemas.microsoft.com/office/drawing/2014/main" id="{671A6FFF-8250-440D-A1D9-A76F596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34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68A"/>
            </a:solidFill>
            <a:prstDash val="solid"/>
          </a:ln>
        </p:spPr>
      </p:sp>
      <p:sp>
        <p:nvSpPr>
          <p:cNvPr id="4" name="reveal1-object-3">
            <a:extLst xmlns:a="http://schemas.openxmlformats.org/drawingml/2006/main">
              <a:ext uri="{FF2B5EF4-FFF2-40B4-BE49-F238E27FC236}">
                <a16:creationId xmlns:a16="http://schemas.microsoft.com/office/drawing/2014/main" id="{0B70580C-C6D5-4FD5-8C0E-812072B1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PA · HDI sink 模块</a:t>
            </a:r>
          </a:p>
        </p:txBody>
      </p:sp>
      <p:sp>
        <p:nvSpPr>
          <p:cNvPr id="5" name="reveal1-object-4">
            <a:extLst xmlns:a="http://schemas.openxmlformats.org/drawingml/2006/main">
              <a:ext uri="{FF2B5EF4-FFF2-40B4-BE49-F238E27FC236}">
                <a16:creationId xmlns:a16="http://schemas.microsoft.com/office/drawing/2014/main" id="{77A1FA18-F098-428A-9563-C680D1C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单文件 4823 行 · 190 个函数</a:t>
            </a:r>
          </a:p>
        </p:txBody>
      </p:sp>
      <p:sp>
        <p:nvSpPr>
          <p:cNvPr id="6" name="reveal1-object-5">
            <a:extLst xmlns:a="http://schemas.openxmlformats.org/drawingml/2006/main">
              <a:ext uri="{FF2B5EF4-FFF2-40B4-BE49-F238E27FC236}">
                <a16:creationId xmlns:a16="http://schemas.microsoft.com/office/drawing/2014/main" id="{1DAE9E33-7803-40E2-B0ED-9860D168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主通路：一套淡入完成检查</a:t>
            </a:r>
          </a:p>
        </p:txBody>
      </p:sp>
      <p:sp>
        <p:nvSpPr>
          <p:cNvPr id="7" name="reveal1-object-6">
            <a:extLst xmlns:a="http://schemas.openxmlformats.org/drawingml/2006/main">
              <a:ext uri="{FF2B5EF4-FFF2-40B4-BE49-F238E27FC236}">
                <a16:creationId xmlns:a16="http://schemas.microsoft.com/office/drawing/2014/main" id="{DC86AE20-D186-4A0E-9B13-DA6342BE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rPr>
              <a:t>多声道：又一套完成检查</a:t>
            </a:r>
          </a:p>
        </p:txBody>
      </p:sp>
      <p:sp>
        <p:nvSpPr>
          <p:cNvPr id="8" name="reveal1-object-7">
            <a:extLst xmlns:a="http://schemas.openxmlformats.org/drawingml/2006/main">
              <a:ext uri="{FF2B5EF4-FFF2-40B4-BE49-F238E27FC236}">
                <a16:creationId xmlns:a16="http://schemas.microsoft.com/office/drawing/2014/main" id="{DC777C35-AF00-4192-B948-9CDBA681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低时延通路：专属一组处理</a:t>
            </a:r>
          </a:p>
        </p:txBody>
      </p:sp>
      <p:sp>
        <p:nvSpPr>
          <p:cNvPr id="9" name="reveal1-object-8">
            <a:extLst xmlns:a="http://schemas.openxmlformats.org/drawingml/2006/main">
              <a:ext uri="{FF2B5EF4-FFF2-40B4-BE49-F238E27FC236}">
                <a16:creationId xmlns:a16="http://schemas.microsoft.com/office/drawing/2014/main" id="{E4B33B41-18A7-4F79-BF67-90DB0161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状态回调：按流类型 4 个变体</a:t>
            </a:r>
          </a:p>
        </p:txBody>
      </p:sp>
      <p:sp>
        <p:nvSpPr>
          <p:cNvPr id="10" name="reveal1-object-9">
            <a:extLst xmlns:a="http://schemas.openxmlformats.org/drawingml/2006/main">
              <a:ext uri="{FF2B5EF4-FFF2-40B4-BE49-F238E27FC236}">
                <a16:creationId xmlns:a16="http://schemas.microsoft.com/office/drawing/2014/main" id="{439D4684-B1CB-42C6-BA73-DF20310A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DoFading · CheckPrimaryFadeinIsDone</a:t>
            </a:r>
          </a:p>
        </p:txBody>
      </p:sp>
      <p:sp>
        <p:nvSpPr>
          <p:cNvPr id="11" name="reveal1-object-10">
            <a:extLst xmlns:a="http://schemas.openxmlformats.org/drawingml/2006/main">
              <a:ext uri="{FF2B5EF4-FFF2-40B4-BE49-F238E27FC236}">
                <a16:creationId xmlns:a16="http://schemas.microsoft.com/office/drawing/2014/main" id="{4BCC7167-9EC1-41D6-B8F8-BB370C40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CheckMultiChannelFadeinIsDone · 状态回调 ×4</a:t>
            </a:r>
          </a:p>
        </p:txBody>
      </p:sp>
      <p:sp>
        <p:nvSpPr>
          <p:cNvPr id="12" name="reveal1-object-11">
            <a:extLst xmlns:a="http://schemas.openxmlformats.org/drawingml/2006/main">
              <a:ext uri="{FF2B5EF4-FFF2-40B4-BE49-F238E27FC236}">
                <a16:creationId xmlns:a16="http://schemas.microsoft.com/office/drawing/2014/main" id="{E2A54B88-4B75-4184-A072-8163BBA7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同文件还装着：设备开关、格式转换 ×8、限幅器、</a:t>
            </a:r>
          </a:p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缓冲管理、静音检测、内录、会话策略</a:t>
            </a:r>
          </a:p>
        </p:txBody>
      </p:sp>
      <p:sp>
        <p:nvSpPr>
          <p:cNvPr id="13" name="reveal2-object-12">
            <a:extLst xmlns:a="http://schemas.openxmlformats.org/drawingml/2006/main">
              <a:ext uri="{FF2B5EF4-FFF2-40B4-BE49-F238E27FC236}">
                <a16:creationId xmlns:a16="http://schemas.microsoft.com/office/drawing/2014/main" id="{0DA5DF4A-395D-4433-9731-F26865FB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5334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" name="reveal2-object-13">
            <a:extLst xmlns:a="http://schemas.openxmlformats.org/drawingml/2006/main">
              <a:ext uri="{FF2B5EF4-FFF2-40B4-BE49-F238E27FC236}">
                <a16:creationId xmlns:a16="http://schemas.microsoft.com/office/drawing/2014/main" id="{10D6FCC0-109E-4B44-9CC9-A297423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HPAE · 增益节点</a:t>
            </a:r>
          </a:p>
        </p:txBody>
      </p:sp>
      <p:sp>
        <p:nvSpPr>
          <p:cNvPr id="15" name="reveal2-object-14">
            <a:extLst xmlns:a="http://schemas.openxmlformats.org/drawingml/2006/main">
              <a:ext uri="{FF2B5EF4-FFF2-40B4-BE49-F238E27FC236}">
                <a16:creationId xmlns:a16="http://schemas.microsoft.com/office/drawing/2014/main" id="{94838418-1551-4A6B-8D88-477C255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单节点 521 行 · 一套状态机</a:t>
            </a:r>
          </a:p>
        </p:txBody>
      </p:sp>
      <p:sp>
        <p:nvSpPr>
          <p:cNvPr id="16" name="reveal2-object-15">
            <a:extLst xmlns:a="http://schemas.openxmlformats.org/drawingml/2006/main">
              <a:ext uri="{FF2B5EF4-FFF2-40B4-BE49-F238E27FC236}">
                <a16:creationId xmlns:a16="http://schemas.microsoft.com/office/drawing/2014/main" id="{74E3F0F6-7A99-48C4-81C4-7CD054C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194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veal2-object-16">
            <a:extLst xmlns:a="http://schemas.openxmlformats.org/drawingml/2006/main">
              <a:ext uri="{FF2B5EF4-FFF2-40B4-BE49-F238E27FC236}">
                <a16:creationId xmlns:a16="http://schemas.microsoft.com/office/drawing/2014/main" id="{ADD76063-E6D5-47C9-8F75-0D0B40D8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增益节点</a:t>
            </a:r>
          </a:p>
        </p:txBody>
      </p:sp>
      <p:sp>
        <p:nvSpPr>
          <p:cNvPr id="18" name="reveal2-object-17">
            <a:extLst xmlns:a="http://schemas.openxmlformats.org/drawingml/2006/main">
              <a:ext uri="{FF2B5EF4-FFF2-40B4-BE49-F238E27FC236}">
                <a16:creationId xmlns:a16="http://schemas.microsoft.com/office/drawing/2014/main" id="{0D9D25B2-1F74-46E9-9193-D8658736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挂标志 → 逐帧执行</a:t>
            </a:r>
          </a:p>
          <a:p xmlns:a="http://schemas.openxmlformats.org/drawingml/2006/main">
            <a:pPr algn="l">
              <a:defRPr sz="14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→ 就地回调</a:t>
            </a:r>
          </a:p>
        </p:txBody>
      </p:sp>
      <p:sp>
        <p:nvSpPr>
          <p:cNvPr id="19" name="reveal2-object-18">
            <a:extLst xmlns:a="http://schemas.openxmlformats.org/drawingml/2006/main">
              <a:ext uri="{FF2B5EF4-FFF2-40B4-BE49-F238E27FC236}">
                <a16:creationId xmlns:a16="http://schemas.microsoft.com/office/drawing/2014/main" id="{5093BA8B-30B0-4901-9F69-3E5F3D79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052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主通路 / 多声道 / 低时延：同一个节点</a:t>
            </a:r>
          </a:p>
        </p:txBody>
      </p:sp>
      <p:sp>
        <p:nvSpPr>
          <p:cNvPr id="20" name="reveal2-object-19">
            <a:extLst xmlns:a="http://schemas.openxmlformats.org/drawingml/2006/main">
              <a:ext uri="{FF2B5EF4-FFF2-40B4-BE49-F238E27FC236}">
                <a16:creationId xmlns:a16="http://schemas.microsoft.com/office/drawing/2014/main" id="{D7D1FCD6-E171-465C-971D-7C8102A6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差异只是挂哪条链——挂链时的参数</a:t>
            </a:r>
          </a:p>
        </p:txBody>
      </p:sp>
      <p:sp>
        <p:nvSpPr>
          <p:cNvPr id="21" name="reveal2-object-20">
            <a:extLst xmlns:a="http://schemas.openxmlformats.org/drawingml/2006/main">
              <a:ext uri="{FF2B5EF4-FFF2-40B4-BE49-F238E27FC236}">
                <a16:creationId xmlns:a16="http://schemas.microsoft.com/office/drawing/2014/main" id="{D30828B1-1EE4-4353-91BF-CBF51B5C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节点层 32 个文件，一文件一职责；</a:t>
            </a:r>
          </a:p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每个节点带独立单测</a:t>
            </a:r>
          </a:p>
        </p:txBody>
      </p:sp>
      <p:sp>
        <p:nvSpPr>
          <p:cNvPr id="22" name="reveal2-object-21">
            <a:extLst xmlns:a="http://schemas.openxmlformats.org/drawingml/2006/main">
              <a:ext uri="{FF2B5EF4-FFF2-40B4-BE49-F238E27FC236}">
                <a16:creationId xmlns:a16="http://schemas.microsoft.com/office/drawing/2014/main" id="{E5BD2E7C-9858-4B2D-9815-A648298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流类型的差异：PA 织进每个关注点的代码分叉，HPAE 是挂链时的一个参数。</a:t>
            </a:r>
          </a:p>
        </p:txBody>
      </p:sp>
      <p:sp>
        <p:nvSpPr>
          <p:cNvPr id="23" name="object-22">
            <a:extLst xmlns:a="http://schemas.openxmlformats.org/drawingml/2006/main">
              <a:ext uri="{FF2B5EF4-FFF2-40B4-BE49-F238E27FC236}">
                <a16:creationId xmlns:a16="http://schemas.microsoft.com/office/drawing/2014/main" id="{3206D941-992C-4F38-B492-6E728AA0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左为旧方案单模块，右为新引擎节点层；行号与文件见讲稿附录。</a:t>
            </a:r>
          </a:p>
        </p:txBody>
      </p:sp>
      <p:sp>
        <p:nvSpPr>
          <p:cNvPr id="24" name="object-23">
            <a:extLst xmlns:a="http://schemas.openxmlformats.org/drawingml/2006/main">
              <a:ext uri="{FF2B5EF4-FFF2-40B4-BE49-F238E27FC236}">
                <a16:creationId xmlns:a16="http://schemas.microsoft.com/office/drawing/2014/main" id="{166764C7-8775-4C2E-B689-3B946210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92067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1"/>
      <p:bldP spid="5" grpId="1"/>
      <p:bldP spid="6" grpId="1"/>
      <p:bldP spid="7" grpId="1"/>
      <p:bldP spid="8" grpId="1"/>
      <p:bldP spid="9" grpId="1"/>
      <p:bldP spid="10" grpId="1"/>
      <p:bldP spid="11" grpId="1"/>
      <p:bldP spid="12" grpId="1"/>
      <p:bldP spid="13" grpId="2"/>
      <p:bldP spid="14" grpId="2"/>
      <p:bldP spid="15" grpId="2"/>
      <p:bldP spid="16" grpId="2"/>
      <p:bldP spid="17" grpId="2"/>
      <p:bldP spid="18" grpId="2"/>
      <p:bldP spid="19" grpId="2"/>
      <p:bldP spid="20" grpId="2"/>
      <p:bldP spid="21" grpId="2"/>
      <p:bldP spid="22" grpId="2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object-24">
            <a:extLst xmlns:a="http://schemas.openxmlformats.org/drawingml/2006/main">
              <a:ext uri="{FF2B5EF4-FFF2-40B4-BE49-F238E27FC236}">
                <a16:creationId xmlns:a16="http://schemas.microsoft.com/office/drawing/2014/main" id="{2CD9A416-25BB-4A27-A04A-F1BCE963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改动半径：加限幅，接新设备</a:t>
            </a:r>
          </a:p>
        </p:txBody>
      </p:sp>
      <p:sp>
        <p:nvSpPr>
          <p:cNvPr id="2" name="object-25">
            <a:extLst xmlns:a="http://schemas.openxmlformats.org/drawingml/2006/main">
              <a:ext uri="{FF2B5EF4-FFF2-40B4-BE49-F238E27FC236}">
                <a16:creationId xmlns:a16="http://schemas.microsoft.com/office/drawing/2014/main" id="{C2B7DF2E-3DA7-4A98-B98A-5BC732C8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两类常见改动，各自要碰多大面积。</a:t>
            </a:r>
          </a:p>
        </p:txBody>
      </p:sp>
      <p:sp>
        <p:nvSpPr>
          <p:cNvPr id="3" name="reveal1-object-26">
            <a:extLst xmlns:a="http://schemas.openxmlformats.org/drawingml/2006/main">
              <a:ext uri="{FF2B5EF4-FFF2-40B4-BE49-F238E27FC236}">
                <a16:creationId xmlns:a16="http://schemas.microsoft.com/office/drawing/2014/main" id="{87749233-3869-4E35-B4D1-37747804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给所有通路加限幅</a:t>
            </a:r>
          </a:p>
        </p:txBody>
      </p:sp>
      <p:sp>
        <p:nvSpPr>
          <p:cNvPr id="4" name="reveal1-object-27">
            <a:extLst xmlns:a="http://schemas.openxmlformats.org/drawingml/2006/main">
              <a:ext uri="{FF2B5EF4-FFF2-40B4-BE49-F238E27FC236}">
                <a16:creationId xmlns:a16="http://schemas.microsoft.com/office/drawing/2014/main" id="{5E470BD0-21DB-4810-AB48-B3261AB7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veal1-object-28">
            <a:extLst xmlns:a="http://schemas.openxmlformats.org/drawingml/2006/main">
              <a:ext uri="{FF2B5EF4-FFF2-40B4-BE49-F238E27FC236}">
                <a16:creationId xmlns:a16="http://schemas.microsoft.com/office/drawing/2014/main" id="{827B9B2F-20FF-4FBD-AC39-19F430FB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PA：限幅器长在 sink 文件里</a:t>
            </a:r>
          </a:p>
        </p:txBody>
      </p:sp>
      <p:sp>
        <p:nvSpPr>
          <p:cNvPr id="6" name="reveal1-object-29">
            <a:extLst xmlns:a="http://schemas.openxmlformats.org/drawingml/2006/main">
              <a:ext uri="{FF2B5EF4-FFF2-40B4-BE49-F238E27FC236}">
                <a16:creationId xmlns:a16="http://schemas.microsoft.com/office/drawing/2014/main" id="{5B6E8338-A612-450F-B0C9-ACEFB12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加一个效果，动的是那个 4823 行的文件</a:t>
            </a:r>
          </a:p>
        </p:txBody>
      </p:sp>
      <p:sp>
        <p:nvSpPr>
          <p:cNvPr id="7" name="reveal1-object-30">
            <a:extLst xmlns:a="http://schemas.openxmlformats.org/drawingml/2006/main">
              <a:ext uri="{FF2B5EF4-FFF2-40B4-BE49-F238E27FC236}">
                <a16:creationId xmlns:a16="http://schemas.microsoft.com/office/drawing/2014/main" id="{2B6BA0E8-37C6-4D89-9345-105BB49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veal1-object-31">
            <a:extLst xmlns:a="http://schemas.openxmlformats.org/drawingml/2006/main">
              <a:ext uri="{FF2B5EF4-FFF2-40B4-BE49-F238E27FC236}">
                <a16:creationId xmlns:a16="http://schemas.microsoft.com/office/drawing/2014/main" id="{4937282D-B1CA-42C9-9878-FAA87768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HPAE：挂一个限幅节点进链</a:t>
            </a:r>
          </a:p>
        </p:txBody>
      </p:sp>
      <p:sp>
        <p:nvSpPr>
          <p:cNvPr id="9" name="reveal1-object-32">
            <a:extLst xmlns:a="http://schemas.openxmlformats.org/drawingml/2006/main">
              <a:ext uri="{FF2B5EF4-FFF2-40B4-BE49-F238E27FC236}">
                <a16:creationId xmlns:a16="http://schemas.microsoft.com/office/drawing/2014/main" id="{AE2E5EC1-AAE9-491E-A17C-FC1C8CC3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独立文件、独立单测，不碰别的节点</a:t>
            </a:r>
          </a:p>
        </p:txBody>
      </p:sp>
      <p:sp>
        <p:nvSpPr>
          <p:cNvPr id="10" name="reveal2-object-33">
            <a:extLst xmlns:a="http://schemas.openxmlformats.org/drawingml/2006/main">
              <a:ext uri="{FF2B5EF4-FFF2-40B4-BE49-F238E27FC236}">
                <a16:creationId xmlns:a16="http://schemas.microsoft.com/office/drawing/2014/main" id="{AF4810E2-17CB-4764-83A3-08CE5BFF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接一种新输出设备</a:t>
            </a:r>
          </a:p>
        </p:txBody>
      </p:sp>
      <p:sp>
        <p:nvSpPr>
          <p:cNvPr id="11" name="reveal2-object-34">
            <a:extLst xmlns:a="http://schemas.openxmlformats.org/drawingml/2006/main">
              <a:ext uri="{FF2B5EF4-FFF2-40B4-BE49-F238E27FC236}">
                <a16:creationId xmlns:a16="http://schemas.microsoft.com/office/drawing/2014/main" id="{6AF068F6-04F7-44B7-9A4A-B776584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veal2-object-35">
            <a:extLst xmlns:a="http://schemas.openxmlformats.org/drawingml/2006/main">
              <a:ext uri="{FF2B5EF4-FFF2-40B4-BE49-F238E27FC236}">
                <a16:creationId xmlns:a16="http://schemas.microsoft.com/office/drawing/2014/main" id="{39D91442-E3FF-4B55-BC5E-1668AF4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PA：动 sink 的设备分支与格式转换</a:t>
            </a:r>
          </a:p>
        </p:txBody>
      </p:sp>
      <p:sp>
        <p:nvSpPr>
          <p:cNvPr id="13" name="reveal2-object-36">
            <a:extLst xmlns:a="http://schemas.openxmlformats.org/drawingml/2006/main">
              <a:ext uri="{FF2B5EF4-FFF2-40B4-BE49-F238E27FC236}">
                <a16:creationId xmlns:a16="http://schemas.microsoft.com/office/drawing/2014/main" id="{2D7C8649-5783-4B82-BE6F-A45766A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设备差异写进模块代码</a:t>
            </a:r>
          </a:p>
        </p:txBody>
      </p:sp>
      <p:sp>
        <p:nvSpPr>
          <p:cNvPr id="14" name="reveal2-object-37">
            <a:extLst xmlns:a="http://schemas.openxmlformats.org/drawingml/2006/main">
              <a:ext uri="{FF2B5EF4-FFF2-40B4-BE49-F238E27FC236}">
                <a16:creationId xmlns:a16="http://schemas.microsoft.com/office/drawing/2014/main" id="{E13FB976-0D0F-4DA0-8779-985858A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24350"/>
            <a:ext cx="514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veal2-object-38">
            <a:extLst xmlns:a="http://schemas.openxmlformats.org/drawingml/2006/main">
              <a:ext uri="{FF2B5EF4-FFF2-40B4-BE49-F238E27FC236}">
                <a16:creationId xmlns:a16="http://schemas.microsoft.com/office/drawing/2014/main" id="{6BEB5B0E-03FF-43AD-9A27-0720530D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81500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HPAE：节点信息按目标侧填参数</a:t>
            </a:r>
          </a:p>
        </p:txBody>
      </p:sp>
      <p:sp>
        <p:nvSpPr>
          <p:cNvPr id="16" name="reveal2-object-39">
            <a:extLst xmlns:a="http://schemas.openxmlformats.org/drawingml/2006/main">
              <a:ext uri="{FF2B5EF4-FFF2-40B4-BE49-F238E27FC236}">
                <a16:creationId xmlns:a16="http://schemas.microsoft.com/office/drawing/2014/main" id="{7A387DDD-5A26-430D-AC43-7FA6C6F0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101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帧长采样率来自目标，节点不改</a:t>
            </a:r>
          </a:p>
        </p:txBody>
      </p:sp>
      <p:sp>
        <p:nvSpPr>
          <p:cNvPr id="17" name="reveal2-object-40">
            <a:extLst xmlns:a="http://schemas.openxmlformats.org/drawingml/2006/main">
              <a:ext uri="{FF2B5EF4-FFF2-40B4-BE49-F238E27FC236}">
                <a16:creationId xmlns:a16="http://schemas.microsoft.com/office/drawing/2014/main" id="{2266E83A-0D68-4E2D-B48A-3984017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 把流类型与设备差异写成代码分叉；HPAE 把它们变成挂链时的参数。</a:t>
            </a:r>
          </a:p>
        </p:txBody>
      </p:sp>
      <p:sp>
        <p:nvSpPr>
          <p:cNvPr id="18" name="object-41">
            <a:extLst xmlns:a="http://schemas.openxmlformats.org/drawingml/2006/main">
              <a:ext uri="{FF2B5EF4-FFF2-40B4-BE49-F238E27FC236}">
                <a16:creationId xmlns:a16="http://schemas.microsoft.com/office/drawing/2014/main" id="{B663E080-4539-47B3-8837-C22D5AE7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情景为结构对照；具体行号见讲稿附录。</a:t>
            </a:r>
          </a:p>
        </p:txBody>
      </p:sp>
      <p:sp>
        <p:nvSpPr>
          <p:cNvPr id="19" name="object-42">
            <a:extLst xmlns:a="http://schemas.openxmlformats.org/drawingml/2006/main">
              <a:ext uri="{FF2B5EF4-FFF2-40B4-BE49-F238E27FC236}">
                <a16:creationId xmlns:a16="http://schemas.microsoft.com/office/drawing/2014/main" id="{FDBC8D8A-CC9D-4C9D-8464-BCBBB42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41031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4" grpId="1"/>
      <p:bldP spid="5" grpId="1"/>
      <p:bldP spid="6" grpId="1"/>
      <p:bldP spid="7" grpId="1"/>
      <p:bldP spid="8" grpId="1"/>
      <p:bldP spid="9" grpId="1"/>
      <p:bldP spid="10" grpId="2"/>
      <p:bldP spid="11" grpId="2"/>
      <p:bldP spid="12" grpId="2"/>
      <p:bldP spid="13" grpId="2"/>
      <p:bldP spid="14" grpId="2"/>
      <p:bldP spid="15" grpId="2"/>
      <p:bldP spid="16" grpId="2"/>
      <p:bldP spid="17" grpId="2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2026-10-22T00:54:12.2320000Z</dcterms:created>
  <dcterms:modified xsi:type="dcterms:W3CDTF">2026-10-22T00:54:12.2320000Z</dcterms:modified>
</coreProperties>
</file>